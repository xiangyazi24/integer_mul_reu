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411" r:id="rId2"/>
    <p:sldId id="429" r:id="rId3"/>
    <p:sldId id="437" r:id="rId4"/>
    <p:sldId id="438" r:id="rId5"/>
    <p:sldId id="439" r:id="rId6"/>
    <p:sldId id="440" r:id="rId7"/>
    <p:sldId id="441" r:id="rId8"/>
    <p:sldId id="442" r:id="rId9"/>
    <p:sldId id="443" r:id="rId10"/>
    <p:sldId id="444" r:id="rId11"/>
    <p:sldId id="445" r:id="rId12"/>
    <p:sldId id="446" r:id="rId13"/>
    <p:sldId id="447" r:id="rId14"/>
    <p:sldId id="452" r:id="rId15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ahoma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4F6"/>
    <a:srgbClr val="6289F8"/>
    <a:srgbClr val="8097F8"/>
    <a:srgbClr val="2C61F6"/>
    <a:srgbClr val="F8F0D0"/>
    <a:srgbClr val="F2E4AA"/>
    <a:srgbClr val="0000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/>
  </p:normalViewPr>
  <p:slideViewPr>
    <p:cSldViewPr>
      <p:cViewPr>
        <p:scale>
          <a:sx n="150" d="100"/>
          <a:sy n="150" d="100"/>
        </p:scale>
        <p:origin x="-2072" y="-10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Relationship Id="rId2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image" Target="../media/image16.wmf"/><Relationship Id="rId3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image" Target="../media/image22.wmf"/><Relationship Id="rId3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r>
              <a:rPr lang="en-US"/>
              <a:t>Cryptography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3305E1D8-60F6-DD42-AFE1-828A2F738C80}" type="datetime8">
              <a:rPr lang="en-US"/>
              <a:pPr/>
              <a:t>10/12/15 13:54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C5DF05EA-488D-C74C-94CE-8195EE84285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71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r>
              <a:rPr lang="en-US"/>
              <a:t>Cryptography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1146E4FC-6D17-8D4C-A9F2-95B60767AF7E}" type="datetime8">
              <a:rPr lang="en-US"/>
              <a:pPr/>
              <a:t>10/12/15 13:54</a:t>
            </a:fld>
            <a:endParaRPr lang="en-US"/>
          </a:p>
        </p:txBody>
      </p:sp>
      <p:sp>
        <p:nvSpPr>
          <p:cNvPr id="102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l" defTabSz="966788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400"/>
            </a:lvl1pPr>
          </a:lstStyle>
          <a:p>
            <a:fld id="{39EC8248-F5C3-CF41-BC15-AF9EF3AED6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5600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Cryptography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EAEDDF2-525E-014C-B78B-BE434377F962}" type="datetime8">
              <a:rPr lang="en-US"/>
              <a:pPr/>
              <a:t>10/12/15 13:55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6A555-190C-564F-915A-2AA4EC598A8E}" type="slidenum">
              <a:rPr lang="en-US"/>
              <a:pPr/>
              <a:t>1</a:t>
            </a:fld>
            <a:endParaRPr lang="en-US"/>
          </a:p>
        </p:txBody>
      </p:sp>
      <p:sp>
        <p:nvSpPr>
          <p:cNvPr id="207874" name="Rectangle 2"/>
          <p:cNvSpPr>
            <a:spLocks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5124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25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5126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7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8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9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0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1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2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3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4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5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6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7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8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9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0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1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2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3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4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5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6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7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8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49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0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1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2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3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4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5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6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7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8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59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0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1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2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3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4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5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6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7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8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69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0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1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2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3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4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5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6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17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78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5179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0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1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2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83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5184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5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6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charset="0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189" name="Rectangle 69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5190" name="Rectangle 7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5191" name="Rectangle 7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D3A4F65-5CEB-694B-A922-3C8166FC04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8B1DB-EA1B-C248-9CD0-B263091D647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8CB8D-66AE-C74A-983E-7FF2C70081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6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F7AFF0-CB12-5843-B4CF-335DB12D8C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2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CFD49-055E-684A-B273-C1FB7221E0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6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181AC-FC04-C147-889B-46CA135654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F8073-C372-EB4E-B69F-CCD02F69A8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5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A4060D-B3AC-DE4C-9218-B89C306A24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4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AEA4E-A94C-F048-B3D8-1D778805E2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9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CF31F-A104-0242-870D-13EBB6921F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5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FFT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265A8C-8A28-634C-A13C-2A99EB10A0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6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00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0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4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5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8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0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1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2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3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1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23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3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15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5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5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-1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199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15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6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r>
              <a:rPr lang="en-US" smtClean="0"/>
              <a:t>© 2015 Goodrich and Tamassia </a:t>
            </a:r>
            <a:endParaRPr 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/>
              <a:t>FFT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A26042-1317-1440-9749-2D7479504DB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charset="0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charset="0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charset="0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2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wmf"/><Relationship Id="rId7" Type="http://schemas.openxmlformats.org/officeDocument/2006/relationships/image" Target="../media/image5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Relationship Id="rId7" Type="http://schemas.openxmlformats.org/officeDocument/2006/relationships/image" Target="../media/image8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6" Type="http://schemas.openxmlformats.org/officeDocument/2006/relationships/image" Target="../media/image10.wmf"/><Relationship Id="rId7" Type="http://schemas.openxmlformats.org/officeDocument/2006/relationships/image" Target="../media/image11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13.emf"/><Relationship Id="rId5" Type="http://schemas.openxmlformats.org/officeDocument/2006/relationships/oleObject" Target="../embeddings/oleObject9.bin"/><Relationship Id="rId6" Type="http://schemas.openxmlformats.org/officeDocument/2006/relationships/image" Target="../media/image14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2.bin"/><Relationship Id="rId8" Type="http://schemas.openxmlformats.org/officeDocument/2006/relationships/image" Target="../media/image17.wmf"/><Relationship Id="rId9" Type="http://schemas.openxmlformats.org/officeDocument/2006/relationships/image" Target="../media/image18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4" Type="http://schemas.openxmlformats.org/officeDocument/2006/relationships/image" Target="../media/image19.wmf"/><Relationship Id="rId5" Type="http://schemas.openxmlformats.org/officeDocument/2006/relationships/image" Target="../media/image20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4" Type="http://schemas.openxmlformats.org/officeDocument/2006/relationships/image" Target="../media/image21.wmf"/><Relationship Id="rId5" Type="http://schemas.openxmlformats.org/officeDocument/2006/relationships/oleObject" Target="../embeddings/oleObject15.bin"/><Relationship Id="rId6" Type="http://schemas.openxmlformats.org/officeDocument/2006/relationships/image" Target="../media/image22.wmf"/><Relationship Id="rId7" Type="http://schemas.openxmlformats.org/officeDocument/2006/relationships/oleObject" Target="../embeddings/oleObject16.bin"/><Relationship Id="rId8" Type="http://schemas.openxmlformats.org/officeDocument/2006/relationships/image" Target="../media/image23.wmf"/><Relationship Id="rId9" Type="http://schemas.openxmlformats.org/officeDocument/2006/relationships/image" Target="../media/image24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4" Type="http://schemas.openxmlformats.org/officeDocument/2006/relationships/image" Target="../media/image33.wmf"/><Relationship Id="rId5" Type="http://schemas.openxmlformats.org/officeDocument/2006/relationships/image" Target="../media/image34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5" name="Rectangle 7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898CBF5A-F449-5E4F-B344-6D68800CE93A}" type="slidenum">
              <a:rPr lang="en-US"/>
              <a:pPr/>
              <a:t>1</a:t>
            </a:fld>
            <a:endParaRPr lang="en-US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Fast Fourier Transform</a:t>
            </a:r>
          </a:p>
        </p:txBody>
      </p:sp>
      <p:graphicFrame>
        <p:nvGraphicFramePr>
          <p:cNvPr id="190515" name="Object 51"/>
          <p:cNvGraphicFramePr>
            <a:graphicFrameLocks noChangeAspect="1"/>
          </p:cNvGraphicFramePr>
          <p:nvPr/>
        </p:nvGraphicFramePr>
        <p:xfrm>
          <a:off x="3965575" y="3505200"/>
          <a:ext cx="373062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6" name="VISIO" r:id="rId4" imgW="3729960" imgH="1749960" progId="Visio.Drawing.6">
                  <p:embed/>
                </p:oleObj>
              </mc:Choice>
              <mc:Fallback>
                <p:oleObj name="VISIO" r:id="rId4" imgW="3729960" imgH="1749960" progId="Visio.Drawing.6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575" y="3505200"/>
                        <a:ext cx="3730625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"/>
            <a:ext cx="6629400" cy="9906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Presentation for use with the textbook, </a:t>
            </a:r>
            <a:r>
              <a:rPr lang="en-US" sz="1800" dirty="0" smtClean="0">
                <a:solidFill>
                  <a:schemeClr val="tx2"/>
                </a:solidFill>
              </a:rPr>
              <a:t>Algorithm Design and Applications</a:t>
            </a:r>
            <a:r>
              <a:rPr lang="en-US" sz="1800" dirty="0" smtClean="0"/>
              <a:t>, by M. T. Goodrich and R. Tamassia, Wiley, 2015</a:t>
            </a:r>
            <a:endParaRPr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2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E5592-93F4-C643-AD04-45B2E47DD715}" type="slidenum">
              <a:rPr lang="en-US"/>
              <a:pPr/>
              <a:t>2</a:t>
            </a:fld>
            <a:endParaRPr 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Polynomials</a:t>
            </a:r>
          </a:p>
        </p:txBody>
      </p:sp>
      <p:sp>
        <p:nvSpPr>
          <p:cNvPr id="2109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620000" cy="3657600"/>
          </a:xfrm>
        </p:spPr>
        <p:txBody>
          <a:bodyPr/>
          <a:lstStyle/>
          <a:p>
            <a:r>
              <a:rPr lang="en-US" sz="2000"/>
              <a:t>Polynomial:</a:t>
            </a:r>
          </a:p>
          <a:p>
            <a:pPr>
              <a:buFont typeface="Wingdings" charset="0"/>
              <a:buNone/>
            </a:pPr>
            <a:endParaRPr lang="en-US" sz="2000"/>
          </a:p>
          <a:p>
            <a:pPr>
              <a:buFont typeface="Wingdings" charset="0"/>
              <a:buNone/>
            </a:pPr>
            <a:endParaRPr lang="en-US" sz="2000"/>
          </a:p>
          <a:p>
            <a:r>
              <a:rPr lang="en-US" sz="2000"/>
              <a:t>In general,</a:t>
            </a:r>
          </a:p>
          <a:p>
            <a:pPr>
              <a:buFont typeface="Wingdings" charset="0"/>
              <a:buNone/>
            </a:pPr>
            <a:endParaRPr lang="en-US" sz="2000"/>
          </a:p>
        </p:txBody>
      </p:sp>
      <p:graphicFrame>
        <p:nvGraphicFramePr>
          <p:cNvPr id="210965" name="Object 21"/>
          <p:cNvGraphicFramePr>
            <a:graphicFrameLocks noChangeAspect="1"/>
          </p:cNvGraphicFramePr>
          <p:nvPr/>
        </p:nvGraphicFramePr>
        <p:xfrm>
          <a:off x="1676400" y="1905000"/>
          <a:ext cx="46164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68" name="Equation" r:id="rId3" imgW="1917360" imgH="228600" progId="Equation.3">
                  <p:embed/>
                </p:oleObj>
              </mc:Choice>
              <mc:Fallback>
                <p:oleObj name="Equation" r:id="rId3" imgW="191736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461645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66" name="Object 22"/>
          <p:cNvGraphicFramePr>
            <a:graphicFrameLocks noChangeAspect="1"/>
          </p:cNvGraphicFramePr>
          <p:nvPr/>
        </p:nvGraphicFramePr>
        <p:xfrm>
          <a:off x="1371600" y="3276600"/>
          <a:ext cx="6110288" cy="251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69" name="Equation" r:id="rId5" imgW="2222280" imgH="914400" progId="Equation.3">
                  <p:embed/>
                </p:oleObj>
              </mc:Choice>
              <mc:Fallback>
                <p:oleObj name="Equation" r:id="rId5" imgW="2222280" imgH="914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276600"/>
                        <a:ext cx="6110288" cy="251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0967" name="Picture 23" descr="C:\Documents and Settings\Administrator\Application Data\Microsoft\Media Catalog\Downloaded Clips\cl2\BD05097_.wm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613" y="228600"/>
            <a:ext cx="16287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AAAE4-5078-C84E-BD89-8FA56502CA3D}" type="slidenum">
              <a:rPr lang="en-US"/>
              <a:pPr/>
              <a:t>3</a:t>
            </a:fld>
            <a:endParaRPr 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 Evaluation</a:t>
            </a:r>
          </a:p>
        </p:txBody>
      </p:sp>
      <p:sp>
        <p:nvSpPr>
          <p:cNvPr id="2273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5105400"/>
          </a:xfrm>
        </p:spPr>
        <p:txBody>
          <a:bodyPr/>
          <a:lstStyle/>
          <a:p>
            <a:r>
              <a:rPr lang="en-US" sz="2000" b="1"/>
              <a:t>Horner</a:t>
            </a:r>
            <a:r>
              <a:rPr lang="ja-JP" altLang="en-US" sz="2000" b="1">
                <a:latin typeface="Arial"/>
              </a:rPr>
              <a:t>’</a:t>
            </a:r>
            <a:r>
              <a:rPr lang="en-US" sz="2000" b="1"/>
              <a:t>s Rule:</a:t>
            </a:r>
          </a:p>
          <a:p>
            <a:pPr lvl="1"/>
            <a:r>
              <a:rPr lang="en-US" sz="1800"/>
              <a:t>Given coefficients (a</a:t>
            </a:r>
            <a:r>
              <a:rPr lang="en-US" sz="1800" baseline="-25000"/>
              <a:t>0</a:t>
            </a:r>
            <a:r>
              <a:rPr lang="en-US" sz="1800"/>
              <a:t>,a</a:t>
            </a:r>
            <a:r>
              <a:rPr lang="en-US" sz="1800" baseline="-25000"/>
              <a:t>1</a:t>
            </a:r>
            <a:r>
              <a:rPr lang="en-US" sz="1800"/>
              <a:t>,a</a:t>
            </a:r>
            <a:r>
              <a:rPr lang="en-US" sz="1800" baseline="-25000"/>
              <a:t>2</a:t>
            </a:r>
            <a:r>
              <a:rPr lang="en-US" sz="1800"/>
              <a:t>,…,a</a:t>
            </a:r>
            <a:r>
              <a:rPr lang="en-US" sz="1800" baseline="-25000"/>
              <a:t>n-1</a:t>
            </a:r>
            <a:r>
              <a:rPr lang="en-US" sz="1800"/>
              <a:t>), defining polynomial</a:t>
            </a:r>
          </a:p>
          <a:p>
            <a:pPr>
              <a:buFont typeface="Wingdings" charset="0"/>
              <a:buNone/>
            </a:pPr>
            <a:endParaRPr lang="en-US" sz="2000"/>
          </a:p>
          <a:p>
            <a:pPr>
              <a:buFont typeface="Wingdings" charset="0"/>
              <a:buNone/>
            </a:pPr>
            <a:endParaRPr lang="en-US" sz="2000"/>
          </a:p>
          <a:p>
            <a:pPr>
              <a:buFont typeface="Wingdings" charset="0"/>
              <a:buNone/>
            </a:pPr>
            <a:endParaRPr lang="en-US" sz="2000"/>
          </a:p>
          <a:p>
            <a:pPr lvl="1"/>
            <a:r>
              <a:rPr lang="en-US" sz="1800"/>
              <a:t>Given x, we can evaluate p(x) in O(n) time using the equation</a:t>
            </a:r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r>
              <a:rPr lang="en-US" sz="2000" b="1"/>
              <a:t>Eval</a:t>
            </a:r>
            <a:r>
              <a:rPr lang="en-US" sz="2000"/>
              <a:t>(A,x):      </a:t>
            </a:r>
            <a:r>
              <a:rPr lang="en-US" sz="2000">
                <a:solidFill>
                  <a:schemeClr val="hlink"/>
                </a:solidFill>
              </a:rPr>
              <a:t>[Where A=(a</a:t>
            </a:r>
            <a:r>
              <a:rPr lang="en-US" sz="2000" baseline="-25000">
                <a:solidFill>
                  <a:schemeClr val="hlink"/>
                </a:solidFill>
              </a:rPr>
              <a:t>0</a:t>
            </a:r>
            <a:r>
              <a:rPr lang="en-US" sz="2000">
                <a:solidFill>
                  <a:schemeClr val="hlink"/>
                </a:solidFill>
              </a:rPr>
              <a:t>,a</a:t>
            </a:r>
            <a:r>
              <a:rPr lang="en-US" sz="2000" baseline="-25000">
                <a:solidFill>
                  <a:schemeClr val="hlink"/>
                </a:solidFill>
              </a:rPr>
              <a:t>1</a:t>
            </a:r>
            <a:r>
              <a:rPr lang="en-US" sz="2000">
                <a:solidFill>
                  <a:schemeClr val="hlink"/>
                </a:solidFill>
              </a:rPr>
              <a:t>,a</a:t>
            </a:r>
            <a:r>
              <a:rPr lang="en-US" sz="2000" baseline="-25000">
                <a:solidFill>
                  <a:schemeClr val="hlink"/>
                </a:solidFill>
              </a:rPr>
              <a:t>2</a:t>
            </a:r>
            <a:r>
              <a:rPr lang="en-US" sz="2000">
                <a:solidFill>
                  <a:schemeClr val="hlink"/>
                </a:solidFill>
              </a:rPr>
              <a:t>,…,a</a:t>
            </a:r>
            <a:r>
              <a:rPr lang="en-US" sz="2000" baseline="-25000">
                <a:solidFill>
                  <a:schemeClr val="hlink"/>
                </a:solidFill>
              </a:rPr>
              <a:t>n-1</a:t>
            </a:r>
            <a:r>
              <a:rPr lang="en-US" sz="2000">
                <a:solidFill>
                  <a:schemeClr val="hlink"/>
                </a:solidFill>
              </a:rPr>
              <a:t>)]</a:t>
            </a:r>
          </a:p>
          <a:p>
            <a:pPr lvl="1"/>
            <a:r>
              <a:rPr lang="en-US" sz="1800"/>
              <a:t>If n=1, then return a</a:t>
            </a:r>
            <a:r>
              <a:rPr lang="en-US" sz="1800" baseline="-25000"/>
              <a:t>0</a:t>
            </a:r>
            <a:endParaRPr lang="en-US" sz="1800"/>
          </a:p>
          <a:p>
            <a:pPr lvl="1"/>
            <a:r>
              <a:rPr lang="en-US" sz="1800"/>
              <a:t>Else, </a:t>
            </a:r>
          </a:p>
          <a:p>
            <a:pPr lvl="2"/>
            <a:r>
              <a:rPr lang="en-US" sz="1600"/>
              <a:t>Let A</a:t>
            </a:r>
            <a:r>
              <a:rPr lang="ja-JP" altLang="en-US" sz="1600">
                <a:latin typeface="Arial"/>
              </a:rPr>
              <a:t>’</a:t>
            </a:r>
            <a:r>
              <a:rPr lang="en-US" sz="1600"/>
              <a:t>=(a</a:t>
            </a:r>
            <a:r>
              <a:rPr lang="en-US" sz="1600" baseline="-25000"/>
              <a:t>1</a:t>
            </a:r>
            <a:r>
              <a:rPr lang="en-US" sz="1600"/>
              <a:t>,a</a:t>
            </a:r>
            <a:r>
              <a:rPr lang="en-US" sz="1600" baseline="-25000"/>
              <a:t>2</a:t>
            </a:r>
            <a:r>
              <a:rPr lang="en-US" sz="1600"/>
              <a:t>,…,a</a:t>
            </a:r>
            <a:r>
              <a:rPr lang="en-US" sz="1600" baseline="-25000"/>
              <a:t>n-1</a:t>
            </a:r>
            <a:r>
              <a:rPr lang="en-US" sz="1600"/>
              <a:t>)  </a:t>
            </a:r>
            <a:r>
              <a:rPr lang="en-US" sz="1600">
                <a:solidFill>
                  <a:schemeClr val="hlink"/>
                </a:solidFill>
              </a:rPr>
              <a:t>      [assume this can be done in constant time]</a:t>
            </a:r>
          </a:p>
          <a:p>
            <a:pPr lvl="2"/>
            <a:r>
              <a:rPr lang="en-US" sz="1600"/>
              <a:t>return a</a:t>
            </a:r>
            <a:r>
              <a:rPr lang="en-US" sz="1600" baseline="-25000"/>
              <a:t>0</a:t>
            </a:r>
            <a:r>
              <a:rPr lang="en-US" sz="1600"/>
              <a:t>+x*</a:t>
            </a:r>
            <a:r>
              <a:rPr lang="en-US" sz="1600" b="1"/>
              <a:t>Eval</a:t>
            </a:r>
            <a:r>
              <a:rPr lang="en-US" sz="1600"/>
              <a:t>(A</a:t>
            </a:r>
            <a:r>
              <a:rPr lang="ja-JP" altLang="en-US" sz="1600">
                <a:latin typeface="Arial"/>
              </a:rPr>
              <a:t>’</a:t>
            </a:r>
            <a:r>
              <a:rPr lang="en-US" sz="1600"/>
              <a:t>,x)</a:t>
            </a:r>
          </a:p>
        </p:txBody>
      </p:sp>
      <p:graphicFrame>
        <p:nvGraphicFramePr>
          <p:cNvPr id="227333" name="Object 5"/>
          <p:cNvGraphicFramePr>
            <a:graphicFrameLocks noChangeAspect="1"/>
          </p:cNvGraphicFramePr>
          <p:nvPr/>
        </p:nvGraphicFramePr>
        <p:xfrm>
          <a:off x="3124200" y="2328863"/>
          <a:ext cx="224948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36" name="Equation" r:id="rId3" imgW="901440" imgH="431640" progId="Equation.3">
                  <p:embed/>
                </p:oleObj>
              </mc:Choice>
              <mc:Fallback>
                <p:oleObj name="Equation" r:id="rId3" imgW="90144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28863"/>
                        <a:ext cx="224948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6"/>
          <p:cNvGraphicFramePr>
            <a:graphicFrameLocks noChangeAspect="1"/>
          </p:cNvGraphicFramePr>
          <p:nvPr/>
        </p:nvGraphicFramePr>
        <p:xfrm>
          <a:off x="1295400" y="3962400"/>
          <a:ext cx="75199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37" name="Equation" r:id="rId5" imgW="2984400" imgH="228600" progId="Equation.3">
                  <p:embed/>
                </p:oleObj>
              </mc:Choice>
              <mc:Fallback>
                <p:oleObj name="Equation" r:id="rId5" imgW="29844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962400"/>
                        <a:ext cx="751998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7335" name="Picture 7" descr="C:\Documents and Settings\Administrator\Application Data\Microsoft\Media Catalog\Downloaded Clips\cl0\BS01143_.wm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5" y="228600"/>
            <a:ext cx="1649413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80D6-A3EF-FF4F-8C65-410FE05CCA1A}" type="slidenum">
              <a:rPr lang="en-US"/>
              <a:pPr/>
              <a:t>4</a:t>
            </a:fld>
            <a:endParaRPr lang="en-US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6553200" cy="1143000"/>
          </a:xfrm>
        </p:spPr>
        <p:txBody>
          <a:bodyPr/>
          <a:lstStyle/>
          <a:p>
            <a:r>
              <a:rPr lang="en-US"/>
              <a:t>Polynomial Multiplication Problem</a:t>
            </a:r>
          </a:p>
        </p:txBody>
      </p:sp>
      <p:sp>
        <p:nvSpPr>
          <p:cNvPr id="228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r>
              <a:rPr lang="en-US" sz="2000"/>
              <a:t>Given coefficients (a</a:t>
            </a:r>
            <a:r>
              <a:rPr lang="en-US" sz="2000" baseline="-25000"/>
              <a:t>0</a:t>
            </a:r>
            <a:r>
              <a:rPr lang="en-US" sz="2000"/>
              <a:t>,a</a:t>
            </a:r>
            <a:r>
              <a:rPr lang="en-US" sz="2000" baseline="-25000"/>
              <a:t>1</a:t>
            </a:r>
            <a:r>
              <a:rPr lang="en-US" sz="2000"/>
              <a:t>,a</a:t>
            </a:r>
            <a:r>
              <a:rPr lang="en-US" sz="2000" baseline="-25000"/>
              <a:t>2</a:t>
            </a:r>
            <a:r>
              <a:rPr lang="en-US" sz="2000"/>
              <a:t>,…,a</a:t>
            </a:r>
            <a:r>
              <a:rPr lang="en-US" sz="2000" baseline="-25000"/>
              <a:t>n-1</a:t>
            </a:r>
            <a:r>
              <a:rPr lang="en-US" sz="2000"/>
              <a:t>) and (b</a:t>
            </a:r>
            <a:r>
              <a:rPr lang="en-US" sz="2000" baseline="-25000"/>
              <a:t>0</a:t>
            </a:r>
            <a:r>
              <a:rPr lang="en-US" sz="2000"/>
              <a:t>,b</a:t>
            </a:r>
            <a:r>
              <a:rPr lang="en-US" sz="2000" baseline="-25000"/>
              <a:t>1</a:t>
            </a:r>
            <a:r>
              <a:rPr lang="en-US" sz="2000"/>
              <a:t>,b</a:t>
            </a:r>
            <a:r>
              <a:rPr lang="en-US" sz="2000" baseline="-25000"/>
              <a:t>2</a:t>
            </a:r>
            <a:r>
              <a:rPr lang="en-US" sz="2000"/>
              <a:t>,…,b</a:t>
            </a:r>
            <a:r>
              <a:rPr lang="en-US" sz="2000" baseline="-25000"/>
              <a:t>n-1</a:t>
            </a:r>
            <a:r>
              <a:rPr lang="en-US" sz="2000"/>
              <a:t>) defining two polynomials, p() and q(), and number x, compute p(x)q(x).</a:t>
            </a:r>
          </a:p>
          <a:p>
            <a:endParaRPr lang="en-US" sz="2000"/>
          </a:p>
          <a:p>
            <a:r>
              <a:rPr lang="en-US" sz="2000"/>
              <a:t>Horner</a:t>
            </a:r>
            <a:r>
              <a:rPr lang="ja-JP" altLang="en-US" sz="2000">
                <a:latin typeface="Arial"/>
              </a:rPr>
              <a:t>’</a:t>
            </a:r>
            <a:r>
              <a:rPr lang="en-US" sz="2000"/>
              <a:t>s rule doesn</a:t>
            </a:r>
            <a:r>
              <a:rPr lang="ja-JP" altLang="en-US" sz="2000">
                <a:latin typeface="Arial"/>
              </a:rPr>
              <a:t>’</a:t>
            </a:r>
            <a:r>
              <a:rPr lang="en-US" sz="2000"/>
              <a:t>t help, since</a:t>
            </a:r>
          </a:p>
          <a:p>
            <a:endParaRPr lang="en-US" sz="2000"/>
          </a:p>
          <a:p>
            <a:pPr>
              <a:buFont typeface="Wingdings" charset="0"/>
              <a:buNone/>
            </a:pPr>
            <a:endParaRPr lang="en-US" sz="2000"/>
          </a:p>
          <a:p>
            <a:pPr lvl="1">
              <a:buFont typeface="Wingdings" charset="0"/>
              <a:buNone/>
            </a:pPr>
            <a:endParaRPr lang="en-US" sz="1800"/>
          </a:p>
          <a:p>
            <a:pPr lvl="1">
              <a:buFont typeface="Wingdings" charset="0"/>
              <a:buNone/>
            </a:pPr>
            <a:r>
              <a:rPr lang="en-US" sz="1800"/>
              <a:t>where</a:t>
            </a:r>
          </a:p>
          <a:p>
            <a:pPr>
              <a:buFont typeface="Wingdings" charset="0"/>
              <a:buNone/>
            </a:pPr>
            <a:endParaRPr lang="en-US" sz="2000"/>
          </a:p>
          <a:p>
            <a:pPr>
              <a:buFont typeface="Wingdings" charset="0"/>
              <a:buNone/>
            </a:pPr>
            <a:endParaRPr lang="en-US" sz="2000"/>
          </a:p>
          <a:p>
            <a:pPr>
              <a:buFont typeface="Wingdings" charset="0"/>
              <a:buNone/>
            </a:pPr>
            <a:endParaRPr lang="en-US" sz="2000"/>
          </a:p>
          <a:p>
            <a:r>
              <a:rPr lang="en-US" sz="2000"/>
              <a:t>A straightforward evaluation would take O(n</a:t>
            </a:r>
            <a:r>
              <a:rPr lang="en-US" sz="2000" baseline="30000"/>
              <a:t>2</a:t>
            </a:r>
            <a:r>
              <a:rPr lang="en-US" sz="2000"/>
              <a:t>) time. The </a:t>
            </a:r>
            <a:r>
              <a:rPr lang="ja-JP" altLang="en-US" sz="2000">
                <a:latin typeface="Arial"/>
              </a:rPr>
              <a:t>“</a:t>
            </a:r>
            <a:r>
              <a:rPr lang="en-US" sz="2000"/>
              <a:t>magical</a:t>
            </a:r>
            <a:r>
              <a:rPr lang="ja-JP" altLang="en-US" sz="2000">
                <a:latin typeface="Arial"/>
              </a:rPr>
              <a:t>”</a:t>
            </a:r>
            <a:r>
              <a:rPr lang="en-US" sz="2000"/>
              <a:t> FFT will do it in O(n log n) time.</a:t>
            </a:r>
          </a:p>
        </p:txBody>
      </p:sp>
      <p:graphicFrame>
        <p:nvGraphicFramePr>
          <p:cNvPr id="228356" name="Object 4"/>
          <p:cNvGraphicFramePr>
            <a:graphicFrameLocks noChangeAspect="1"/>
          </p:cNvGraphicFramePr>
          <p:nvPr/>
        </p:nvGraphicFramePr>
        <p:xfrm>
          <a:off x="2590800" y="2895600"/>
          <a:ext cx="34290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60" name="Equation" r:id="rId3" imgW="1168200" imgH="431640" progId="Equation.3">
                  <p:embed/>
                </p:oleObj>
              </mc:Choice>
              <mc:Fallback>
                <p:oleObj name="Equation" r:id="rId3" imgW="116820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895600"/>
                        <a:ext cx="34290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8" name="Object 6"/>
          <p:cNvGraphicFramePr>
            <a:graphicFrameLocks noChangeAspect="1"/>
          </p:cNvGraphicFramePr>
          <p:nvPr/>
        </p:nvGraphicFramePr>
        <p:xfrm>
          <a:off x="2971800" y="4114800"/>
          <a:ext cx="2471738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61" name="Equation" r:id="rId5" imgW="838080" imgH="444240" progId="Equation.3">
                  <p:embed/>
                </p:oleObj>
              </mc:Choice>
              <mc:Fallback>
                <p:oleObj name="Equation" r:id="rId5" imgW="83808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14800"/>
                        <a:ext cx="2471738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8359" name="Picture 7" descr="C:\Documents and Settings\Administrator\Application Data\Microsoft\Media Catalog\Downloaded Clips\cl0\ED00267_.wm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644650" cy="87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3D2FF-CBF4-2B4A-B544-D2B1B024BA14}" type="slidenum">
              <a:rPr lang="en-US"/>
              <a:pPr/>
              <a:t>5</a:t>
            </a:fld>
            <a:endParaRPr lang="en-US"/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143000"/>
          </a:xfrm>
        </p:spPr>
        <p:txBody>
          <a:bodyPr/>
          <a:lstStyle/>
          <a:p>
            <a:r>
              <a:rPr lang="en-US"/>
              <a:t>Polynomial Interpolation &amp; Polynomial Multiplication</a:t>
            </a:r>
          </a:p>
        </p:txBody>
      </p:sp>
      <p:sp>
        <p:nvSpPr>
          <p:cNvPr id="2293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r>
              <a:rPr lang="en-US" sz="2000"/>
              <a:t>Given a set of n points in the plane with distinct x-coordinates, there is </a:t>
            </a:r>
            <a:r>
              <a:rPr lang="en-US" sz="2000" b="1">
                <a:solidFill>
                  <a:schemeClr val="tx2"/>
                </a:solidFill>
              </a:rPr>
              <a:t>exactly one</a:t>
            </a:r>
            <a:r>
              <a:rPr lang="en-US" sz="2000"/>
              <a:t> (n-1)-degree polynomial going through all these points.</a:t>
            </a:r>
          </a:p>
          <a:p>
            <a:r>
              <a:rPr lang="en-US" sz="2000"/>
              <a:t>Alternate approach to computing </a:t>
            </a:r>
            <a:r>
              <a:rPr lang="en-US" sz="2000">
                <a:solidFill>
                  <a:schemeClr val="tx2"/>
                </a:solidFill>
              </a:rPr>
              <a:t>p(x)q(x)</a:t>
            </a:r>
            <a:r>
              <a:rPr lang="en-US" sz="2000"/>
              <a:t>:</a:t>
            </a:r>
          </a:p>
          <a:p>
            <a:pPr lvl="1"/>
            <a:r>
              <a:rPr lang="en-US" sz="1800"/>
              <a:t>Calculate p() on 2n x-values, </a:t>
            </a:r>
            <a:r>
              <a:rPr lang="en-US" sz="1800">
                <a:solidFill>
                  <a:schemeClr val="tx2"/>
                </a:solidFill>
              </a:rPr>
              <a:t>x</a:t>
            </a:r>
            <a:r>
              <a:rPr lang="en-US" sz="1800" baseline="-25000">
                <a:solidFill>
                  <a:schemeClr val="tx2"/>
                </a:solidFill>
              </a:rPr>
              <a:t>0</a:t>
            </a:r>
            <a:r>
              <a:rPr lang="en-US" sz="1800">
                <a:solidFill>
                  <a:schemeClr val="tx2"/>
                </a:solidFill>
              </a:rPr>
              <a:t>,x</a:t>
            </a:r>
            <a:r>
              <a:rPr lang="en-US" sz="1800" baseline="-25000">
                <a:solidFill>
                  <a:schemeClr val="tx2"/>
                </a:solidFill>
              </a:rPr>
              <a:t>1</a:t>
            </a:r>
            <a:r>
              <a:rPr lang="en-US" sz="1800">
                <a:solidFill>
                  <a:schemeClr val="tx2"/>
                </a:solidFill>
              </a:rPr>
              <a:t>,…,x</a:t>
            </a:r>
            <a:r>
              <a:rPr lang="en-US" sz="1800" baseline="-25000">
                <a:solidFill>
                  <a:schemeClr val="tx2"/>
                </a:solidFill>
              </a:rPr>
              <a:t>2n-1</a:t>
            </a:r>
            <a:r>
              <a:rPr lang="en-US" sz="1800"/>
              <a:t>.</a:t>
            </a:r>
          </a:p>
          <a:p>
            <a:pPr lvl="1"/>
            <a:r>
              <a:rPr lang="en-US" sz="1800"/>
              <a:t>Calculate q() on the same 2n x values.</a:t>
            </a:r>
          </a:p>
          <a:p>
            <a:pPr lvl="1"/>
            <a:r>
              <a:rPr lang="en-US" sz="1800"/>
              <a:t>Find the (2n-1)-degree polynomial that goes through the points </a:t>
            </a:r>
            <a:r>
              <a:rPr lang="en-US" sz="1800">
                <a:solidFill>
                  <a:schemeClr val="tx2"/>
                </a:solidFill>
              </a:rPr>
              <a:t>{(x</a:t>
            </a:r>
            <a:r>
              <a:rPr lang="en-US" sz="1800" baseline="-25000">
                <a:solidFill>
                  <a:schemeClr val="tx2"/>
                </a:solidFill>
              </a:rPr>
              <a:t>0</a:t>
            </a:r>
            <a:r>
              <a:rPr lang="en-US" sz="1800">
                <a:solidFill>
                  <a:schemeClr val="tx2"/>
                </a:solidFill>
              </a:rPr>
              <a:t>,p(x</a:t>
            </a:r>
            <a:r>
              <a:rPr lang="en-US" sz="1800" baseline="-25000">
                <a:solidFill>
                  <a:schemeClr val="tx2"/>
                </a:solidFill>
              </a:rPr>
              <a:t>0</a:t>
            </a:r>
            <a:r>
              <a:rPr lang="en-US" sz="1800">
                <a:solidFill>
                  <a:schemeClr val="tx2"/>
                </a:solidFill>
              </a:rPr>
              <a:t>)q(x</a:t>
            </a:r>
            <a:r>
              <a:rPr lang="en-US" sz="1800" baseline="-25000">
                <a:solidFill>
                  <a:schemeClr val="tx2"/>
                </a:solidFill>
              </a:rPr>
              <a:t>0</a:t>
            </a:r>
            <a:r>
              <a:rPr lang="en-US" sz="1800">
                <a:solidFill>
                  <a:schemeClr val="tx2"/>
                </a:solidFill>
              </a:rPr>
              <a:t>)), (x</a:t>
            </a:r>
            <a:r>
              <a:rPr lang="en-US" sz="1800" baseline="-25000">
                <a:solidFill>
                  <a:schemeClr val="tx2"/>
                </a:solidFill>
              </a:rPr>
              <a:t>1</a:t>
            </a:r>
            <a:r>
              <a:rPr lang="en-US" sz="1800">
                <a:solidFill>
                  <a:schemeClr val="tx2"/>
                </a:solidFill>
              </a:rPr>
              <a:t>,p(x</a:t>
            </a:r>
            <a:r>
              <a:rPr lang="en-US" sz="1800" baseline="-25000">
                <a:solidFill>
                  <a:schemeClr val="tx2"/>
                </a:solidFill>
              </a:rPr>
              <a:t>1</a:t>
            </a:r>
            <a:r>
              <a:rPr lang="en-US" sz="1800">
                <a:solidFill>
                  <a:schemeClr val="tx2"/>
                </a:solidFill>
              </a:rPr>
              <a:t>)q(x</a:t>
            </a:r>
            <a:r>
              <a:rPr lang="en-US" sz="1800" baseline="-25000">
                <a:solidFill>
                  <a:schemeClr val="tx2"/>
                </a:solidFill>
              </a:rPr>
              <a:t>1</a:t>
            </a:r>
            <a:r>
              <a:rPr lang="en-US" sz="1800">
                <a:solidFill>
                  <a:schemeClr val="tx2"/>
                </a:solidFill>
              </a:rPr>
              <a:t>)), …, (x</a:t>
            </a:r>
            <a:r>
              <a:rPr lang="en-US" sz="1800" baseline="-25000">
                <a:solidFill>
                  <a:schemeClr val="tx2"/>
                </a:solidFill>
              </a:rPr>
              <a:t>2n-1</a:t>
            </a:r>
            <a:r>
              <a:rPr lang="en-US" sz="1800">
                <a:solidFill>
                  <a:schemeClr val="tx2"/>
                </a:solidFill>
              </a:rPr>
              <a:t>,p(x</a:t>
            </a:r>
            <a:r>
              <a:rPr lang="en-US" sz="1800" baseline="-25000">
                <a:solidFill>
                  <a:schemeClr val="tx2"/>
                </a:solidFill>
              </a:rPr>
              <a:t>2n-1</a:t>
            </a:r>
            <a:r>
              <a:rPr lang="en-US" sz="1800">
                <a:solidFill>
                  <a:schemeClr val="tx2"/>
                </a:solidFill>
              </a:rPr>
              <a:t>)q(x</a:t>
            </a:r>
            <a:r>
              <a:rPr lang="en-US" sz="1800" baseline="-25000">
                <a:solidFill>
                  <a:schemeClr val="tx2"/>
                </a:solidFill>
              </a:rPr>
              <a:t>2n-1</a:t>
            </a:r>
            <a:r>
              <a:rPr lang="en-US" sz="1800">
                <a:solidFill>
                  <a:schemeClr val="tx2"/>
                </a:solidFill>
              </a:rPr>
              <a:t>))}</a:t>
            </a:r>
            <a:r>
              <a:rPr lang="en-US" sz="1800"/>
              <a:t>.</a:t>
            </a:r>
          </a:p>
          <a:p>
            <a:pPr>
              <a:buFont typeface="Wingdings" charset="0"/>
              <a:buNone/>
            </a:pPr>
            <a:endParaRPr lang="en-US" sz="2000"/>
          </a:p>
          <a:p>
            <a:r>
              <a:rPr lang="en-US" sz="2000"/>
              <a:t>Unfortunately, a straightforward evaluation would still take O(n</a:t>
            </a:r>
            <a:r>
              <a:rPr lang="en-US" sz="2000" baseline="30000"/>
              <a:t>2</a:t>
            </a:r>
            <a:r>
              <a:rPr lang="en-US" sz="2000"/>
              <a:t>) time, as we would need to apply an O(n)-time Horner</a:t>
            </a:r>
            <a:r>
              <a:rPr lang="ja-JP" altLang="en-US" sz="2000">
                <a:latin typeface="Arial"/>
              </a:rPr>
              <a:t>’</a:t>
            </a:r>
            <a:r>
              <a:rPr lang="en-US" sz="2000"/>
              <a:t>s Rule evaluation to 2n different points. </a:t>
            </a:r>
          </a:p>
          <a:p>
            <a:r>
              <a:rPr lang="en-US" sz="2000"/>
              <a:t>The </a:t>
            </a:r>
            <a:r>
              <a:rPr lang="ja-JP" altLang="en-US" sz="2000">
                <a:latin typeface="Arial"/>
              </a:rPr>
              <a:t>“</a:t>
            </a:r>
            <a:r>
              <a:rPr lang="en-US" sz="2000"/>
              <a:t>magical</a:t>
            </a:r>
            <a:r>
              <a:rPr lang="ja-JP" altLang="en-US" sz="2000">
                <a:latin typeface="Arial"/>
              </a:rPr>
              <a:t>”</a:t>
            </a:r>
            <a:r>
              <a:rPr lang="en-US" sz="2000"/>
              <a:t> FFT will do it in O(n log n) time, by picking 2n </a:t>
            </a:r>
            <a:r>
              <a:rPr lang="en-US" sz="2000">
                <a:solidFill>
                  <a:schemeClr val="tx2"/>
                </a:solidFill>
              </a:rPr>
              <a:t>points that are easy to evaluate</a:t>
            </a:r>
            <a:r>
              <a:rPr lang="en-US" sz="2000"/>
              <a:t>…</a:t>
            </a:r>
          </a:p>
        </p:txBody>
      </p:sp>
      <p:pic>
        <p:nvPicPr>
          <p:cNvPr id="229382" name="Picture 6" descr="C:\Documents and Settings\Administrator\Application Data\Microsoft\Media Catalog\Downloaded Clips\cl34\j0130271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988" y="152400"/>
            <a:ext cx="1319212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C6D57-4A2B-6B49-A64B-6EF94C1BD926}" type="slidenum">
              <a:rPr lang="en-US"/>
              <a:pPr/>
              <a:t>6</a:t>
            </a:fld>
            <a:endParaRPr lang="en-US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685800"/>
          </a:xfrm>
        </p:spPr>
        <p:txBody>
          <a:bodyPr/>
          <a:lstStyle/>
          <a:p>
            <a:r>
              <a:rPr lang="en-US" dirty="0"/>
              <a:t>Primitive Roots of Unity</a:t>
            </a:r>
          </a:p>
        </p:txBody>
      </p:sp>
      <p:sp>
        <p:nvSpPr>
          <p:cNvPr id="2304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924800" cy="5257800"/>
          </a:xfrm>
        </p:spPr>
        <p:txBody>
          <a:bodyPr/>
          <a:lstStyle/>
          <a:p>
            <a:pPr marL="533400" indent="-533400"/>
            <a:r>
              <a:rPr lang="en-US" sz="2000" dirty="0"/>
              <a:t>A number </a:t>
            </a:r>
            <a:r>
              <a:rPr lang="en-US" sz="2000" dirty="0">
                <a:latin typeface="Symbol" charset="0"/>
              </a:rPr>
              <a:t>w</a:t>
            </a:r>
            <a:r>
              <a:rPr lang="en-US" sz="2000" dirty="0"/>
              <a:t> is a </a:t>
            </a:r>
            <a:r>
              <a:rPr lang="en-US" sz="2000" b="1" i="1" dirty="0">
                <a:solidFill>
                  <a:schemeClr val="tx2"/>
                </a:solidFill>
              </a:rPr>
              <a:t>primitive n-</a:t>
            </a:r>
            <a:r>
              <a:rPr lang="en-US" sz="2000" b="1" i="1" dirty="0" err="1">
                <a:solidFill>
                  <a:schemeClr val="tx2"/>
                </a:solidFill>
              </a:rPr>
              <a:t>th</a:t>
            </a:r>
            <a:r>
              <a:rPr lang="en-US" sz="2000" b="1" i="1" dirty="0">
                <a:solidFill>
                  <a:schemeClr val="tx2"/>
                </a:solidFill>
              </a:rPr>
              <a:t> root of unity</a:t>
            </a:r>
            <a:r>
              <a:rPr lang="en-US" sz="2000" dirty="0"/>
              <a:t>, for n&gt;1, if</a:t>
            </a:r>
          </a:p>
          <a:p>
            <a:pPr marL="914400" lvl="1" indent="-457200"/>
            <a:r>
              <a:rPr lang="en-US" sz="1800" dirty="0" err="1">
                <a:latin typeface="Symbol" charset="0"/>
              </a:rPr>
              <a:t>w</a:t>
            </a:r>
            <a:r>
              <a:rPr lang="en-US" sz="1800" baseline="30000" dirty="0" err="1"/>
              <a:t>n</a:t>
            </a:r>
            <a:r>
              <a:rPr lang="en-US" sz="1800" baseline="30000" dirty="0"/>
              <a:t> </a:t>
            </a:r>
            <a:r>
              <a:rPr lang="en-US" sz="1800" dirty="0"/>
              <a:t>= 1</a:t>
            </a:r>
          </a:p>
          <a:p>
            <a:pPr marL="914400" lvl="1" indent="-457200"/>
            <a:r>
              <a:rPr lang="en-US" sz="1800" dirty="0"/>
              <a:t>The numbers 1, </a:t>
            </a:r>
            <a:r>
              <a:rPr lang="en-US" sz="1800" dirty="0">
                <a:latin typeface="Symbol" charset="0"/>
              </a:rPr>
              <a:t>w</a:t>
            </a:r>
            <a:r>
              <a:rPr lang="en-US" sz="1800" dirty="0"/>
              <a:t>, </a:t>
            </a:r>
            <a:r>
              <a:rPr lang="en-US" sz="1800" dirty="0">
                <a:latin typeface="Symbol" charset="0"/>
              </a:rPr>
              <a:t>w</a:t>
            </a:r>
            <a:r>
              <a:rPr lang="en-US" sz="1800" baseline="30000" dirty="0"/>
              <a:t>2</a:t>
            </a:r>
            <a:r>
              <a:rPr lang="en-US" sz="1800" dirty="0"/>
              <a:t>, …, </a:t>
            </a:r>
            <a:r>
              <a:rPr lang="en-US" sz="1800" dirty="0">
                <a:latin typeface="Symbol" charset="0"/>
              </a:rPr>
              <a:t>w</a:t>
            </a:r>
            <a:r>
              <a:rPr lang="en-US" sz="1800" baseline="30000" dirty="0"/>
              <a:t>n-1</a:t>
            </a:r>
            <a:r>
              <a:rPr lang="en-US" sz="1800" dirty="0"/>
              <a:t> are all distinct</a:t>
            </a:r>
          </a:p>
          <a:p>
            <a:pPr marL="533400" indent="-533400"/>
            <a:r>
              <a:rPr lang="en-US" sz="2000" dirty="0"/>
              <a:t>Example 1:</a:t>
            </a:r>
          </a:p>
          <a:p>
            <a:pPr marL="914400" lvl="1" indent="-457200"/>
            <a:r>
              <a:rPr lang="en-US" sz="1800" dirty="0"/>
              <a:t>Z</a:t>
            </a:r>
            <a:r>
              <a:rPr lang="en-US" sz="1800" baseline="30000" dirty="0"/>
              <a:t>*</a:t>
            </a:r>
            <a:r>
              <a:rPr lang="en-US" sz="1800" baseline="-25000" dirty="0"/>
              <a:t>11</a:t>
            </a:r>
            <a:r>
              <a:rPr lang="en-US" sz="1800" dirty="0"/>
              <a:t>:</a:t>
            </a:r>
          </a:p>
          <a:p>
            <a:pPr marL="533400" indent="-533400"/>
            <a:endParaRPr lang="en-US" sz="2000" dirty="0"/>
          </a:p>
          <a:p>
            <a:pPr marL="533400" indent="-533400"/>
            <a:endParaRPr lang="en-US" sz="2000" dirty="0"/>
          </a:p>
          <a:p>
            <a:pPr marL="533400" indent="-533400"/>
            <a:endParaRPr lang="en-US" sz="2000" dirty="0"/>
          </a:p>
          <a:p>
            <a:pPr marL="533400" indent="-533400"/>
            <a:endParaRPr lang="en-US" sz="2000" dirty="0"/>
          </a:p>
          <a:p>
            <a:pPr marL="533400" indent="-533400"/>
            <a:endParaRPr lang="en-US" sz="2000" dirty="0"/>
          </a:p>
          <a:p>
            <a:pPr marL="914400" lvl="1" indent="-457200"/>
            <a:r>
              <a:rPr lang="en-US" sz="1800" dirty="0"/>
              <a:t>2, 6, 7, 8 are 10-th roots of unity in Z</a:t>
            </a:r>
            <a:r>
              <a:rPr lang="en-US" sz="1800" baseline="30000" dirty="0"/>
              <a:t>*</a:t>
            </a:r>
            <a:r>
              <a:rPr lang="en-US" sz="1800" baseline="-25000" dirty="0"/>
              <a:t>11</a:t>
            </a:r>
            <a:r>
              <a:rPr lang="en-US" sz="1800" dirty="0"/>
              <a:t> </a:t>
            </a:r>
          </a:p>
          <a:p>
            <a:pPr marL="914400" lvl="1" indent="-457200"/>
            <a:r>
              <a:rPr lang="en-US" sz="1800" dirty="0"/>
              <a:t>2</a:t>
            </a:r>
            <a:r>
              <a:rPr lang="en-US" sz="1800" baseline="30000" dirty="0"/>
              <a:t>2</a:t>
            </a:r>
            <a:r>
              <a:rPr lang="en-US" sz="1800" dirty="0"/>
              <a:t>=4, 6</a:t>
            </a:r>
            <a:r>
              <a:rPr lang="en-US" sz="1800" baseline="30000" dirty="0"/>
              <a:t>2</a:t>
            </a:r>
            <a:r>
              <a:rPr lang="en-US" sz="1800" dirty="0"/>
              <a:t>=3, 7</a:t>
            </a:r>
            <a:r>
              <a:rPr lang="en-US" sz="1800" baseline="30000" dirty="0"/>
              <a:t>2</a:t>
            </a:r>
            <a:r>
              <a:rPr lang="en-US" sz="1800" dirty="0"/>
              <a:t>=5, 8</a:t>
            </a:r>
            <a:r>
              <a:rPr lang="en-US" sz="1800" baseline="30000" dirty="0"/>
              <a:t>2</a:t>
            </a:r>
            <a:r>
              <a:rPr lang="en-US" sz="1800" dirty="0"/>
              <a:t>=9 are 5-th roots of unity in Z</a:t>
            </a:r>
            <a:r>
              <a:rPr lang="en-US" sz="1800" baseline="30000" dirty="0"/>
              <a:t>*</a:t>
            </a:r>
            <a:r>
              <a:rPr lang="en-US" sz="1800" baseline="-25000" dirty="0"/>
              <a:t>11</a:t>
            </a:r>
            <a:endParaRPr lang="en-US" sz="1800" dirty="0"/>
          </a:p>
          <a:p>
            <a:pPr marL="914400" lvl="1" indent="-457200"/>
            <a:r>
              <a:rPr lang="en-US" sz="1800" dirty="0"/>
              <a:t>2</a:t>
            </a:r>
            <a:r>
              <a:rPr lang="en-US" sz="1800" baseline="30000" dirty="0"/>
              <a:t>-1</a:t>
            </a:r>
            <a:r>
              <a:rPr lang="en-US" sz="1800" dirty="0"/>
              <a:t>=6, 3</a:t>
            </a:r>
            <a:r>
              <a:rPr lang="en-US" sz="1800" baseline="30000" dirty="0"/>
              <a:t>-1</a:t>
            </a:r>
            <a:r>
              <a:rPr lang="en-US" sz="1800" dirty="0"/>
              <a:t>=4, 4</a:t>
            </a:r>
            <a:r>
              <a:rPr lang="en-US" sz="1800" baseline="30000" dirty="0"/>
              <a:t>-1</a:t>
            </a:r>
            <a:r>
              <a:rPr lang="en-US" sz="1800" dirty="0"/>
              <a:t>=3, 5</a:t>
            </a:r>
            <a:r>
              <a:rPr lang="en-US" sz="1800" baseline="30000" dirty="0"/>
              <a:t>-1</a:t>
            </a:r>
            <a:r>
              <a:rPr lang="en-US" sz="1800" dirty="0"/>
              <a:t>=9, 6</a:t>
            </a:r>
            <a:r>
              <a:rPr lang="en-US" sz="1800" baseline="30000" dirty="0"/>
              <a:t>-1</a:t>
            </a:r>
            <a:r>
              <a:rPr lang="en-US" sz="1800" dirty="0"/>
              <a:t>=2, 7</a:t>
            </a:r>
            <a:r>
              <a:rPr lang="en-US" sz="1800" baseline="30000" dirty="0"/>
              <a:t>-1</a:t>
            </a:r>
            <a:r>
              <a:rPr lang="en-US" sz="1800" dirty="0"/>
              <a:t>=8, 8</a:t>
            </a:r>
            <a:r>
              <a:rPr lang="en-US" sz="1800" baseline="30000" dirty="0"/>
              <a:t>-1</a:t>
            </a:r>
            <a:r>
              <a:rPr lang="en-US" sz="1800" dirty="0"/>
              <a:t>=7, 9</a:t>
            </a:r>
            <a:r>
              <a:rPr lang="en-US" sz="1800" baseline="30000" dirty="0"/>
              <a:t>-1</a:t>
            </a:r>
            <a:r>
              <a:rPr lang="en-US" sz="1800" dirty="0"/>
              <a:t>=5</a:t>
            </a:r>
          </a:p>
          <a:p>
            <a:pPr marL="533400" indent="-533400"/>
            <a:r>
              <a:rPr lang="en-US" sz="2000" dirty="0"/>
              <a:t>Example 2: The complex number </a:t>
            </a:r>
            <a:r>
              <a:rPr lang="en-US" sz="2000" dirty="0">
                <a:latin typeface="Times New Roman" charset="0"/>
              </a:rPr>
              <a:t>e</a:t>
            </a:r>
            <a:r>
              <a:rPr lang="en-US" sz="2000" baseline="30000" dirty="0">
                <a:latin typeface="Times New Roman" charset="0"/>
              </a:rPr>
              <a:t>2</a:t>
            </a:r>
            <a:r>
              <a:rPr lang="en-US" sz="2000" baseline="30000" dirty="0">
                <a:latin typeface="Symbol" charset="0"/>
              </a:rPr>
              <a:t>p</a:t>
            </a:r>
            <a:r>
              <a:rPr lang="en-US" sz="2000" b="1" baseline="30000" dirty="0">
                <a:latin typeface="Times New Roman" charset="0"/>
              </a:rPr>
              <a:t>i</a:t>
            </a:r>
            <a:r>
              <a:rPr lang="en-US" sz="2000" baseline="30000" dirty="0">
                <a:latin typeface="Times New Roman" charset="0"/>
              </a:rPr>
              <a:t>/</a:t>
            </a:r>
            <a:r>
              <a:rPr lang="en-US" sz="2000" i="1" baseline="30000" dirty="0">
                <a:latin typeface="Times New Roman" charset="0"/>
              </a:rPr>
              <a:t>n </a:t>
            </a:r>
            <a:r>
              <a:rPr lang="en-US" sz="2000" dirty="0"/>
              <a:t>is a primitive n-</a:t>
            </a:r>
            <a:r>
              <a:rPr lang="en-US" sz="2000" dirty="0" err="1"/>
              <a:t>th</a:t>
            </a:r>
            <a:r>
              <a:rPr lang="en-US" sz="2000" dirty="0"/>
              <a:t> root of unity, where </a:t>
            </a:r>
            <a:endParaRPr lang="en-US" sz="2000" i="1" dirty="0">
              <a:latin typeface="Times New Roman" charset="0"/>
            </a:endParaRPr>
          </a:p>
        </p:txBody>
      </p:sp>
      <p:graphicFrame>
        <p:nvGraphicFramePr>
          <p:cNvPr id="230405" name="Object 5"/>
          <p:cNvGraphicFramePr>
            <a:graphicFrameLocks noChangeAspect="1"/>
          </p:cNvGraphicFramePr>
          <p:nvPr/>
        </p:nvGraphicFramePr>
        <p:xfrm>
          <a:off x="2743200" y="2590800"/>
          <a:ext cx="5181600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09" name="Worksheet" r:id="rId3" imgW="4259885" imgH="1851884" progId="Excel.Sheet.8">
                  <p:embed/>
                </p:oleObj>
              </mc:Choice>
              <mc:Fallback>
                <p:oleObj name="Worksheet" r:id="rId3" imgW="4259885" imgH="1851884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590800"/>
                        <a:ext cx="5181600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7" name="Object 7"/>
          <p:cNvGraphicFramePr>
            <a:graphicFrameLocks noChangeAspect="1"/>
          </p:cNvGraphicFramePr>
          <p:nvPr/>
        </p:nvGraphicFramePr>
        <p:xfrm>
          <a:off x="2819400" y="6324600"/>
          <a:ext cx="8382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10" name="Equation" r:id="rId5" imgW="533160" imgH="215640" progId="Equation.3">
                  <p:embed/>
                </p:oleObj>
              </mc:Choice>
              <mc:Fallback>
                <p:oleObj name="Equation" r:id="rId5" imgW="53316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324600"/>
                        <a:ext cx="8382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98DC-BE44-DC42-8BE4-D368CF067F7C}" type="slidenum">
              <a:rPr lang="en-US"/>
              <a:pPr/>
              <a:t>7</a:t>
            </a:fld>
            <a:endParaRPr lang="en-US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Properties of </a:t>
            </a:r>
            <a:br>
              <a:rPr lang="en-US"/>
            </a:br>
            <a:r>
              <a:rPr lang="en-US"/>
              <a:t>Primitive Roots of Unity</a:t>
            </a:r>
          </a:p>
        </p:txBody>
      </p:sp>
      <p:sp>
        <p:nvSpPr>
          <p:cNvPr id="2314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305800" cy="5181600"/>
          </a:xfrm>
        </p:spPr>
        <p:txBody>
          <a:bodyPr/>
          <a:lstStyle/>
          <a:p>
            <a:pPr marL="533400" indent="-533400"/>
            <a:r>
              <a:rPr lang="en-US" sz="2000" b="1"/>
              <a:t>Inverse Property:</a:t>
            </a:r>
            <a:r>
              <a:rPr lang="en-US" sz="2000"/>
              <a:t> If </a:t>
            </a:r>
            <a:r>
              <a:rPr lang="en-US" sz="2000">
                <a:latin typeface="Symbol" charset="0"/>
              </a:rPr>
              <a:t>w</a:t>
            </a:r>
            <a:r>
              <a:rPr lang="en-US" sz="2000"/>
              <a:t> is a primitive root of unity, then </a:t>
            </a:r>
            <a:r>
              <a:rPr lang="en-US" sz="2000">
                <a:latin typeface="Symbol" charset="0"/>
              </a:rPr>
              <a:t>w</a:t>
            </a:r>
            <a:r>
              <a:rPr lang="en-US" sz="2000" baseline="30000"/>
              <a:t> -1</a:t>
            </a:r>
            <a:r>
              <a:rPr lang="en-US" sz="2000"/>
              <a:t>=</a:t>
            </a:r>
            <a:r>
              <a:rPr lang="en-US" sz="2000">
                <a:latin typeface="Symbol" charset="0"/>
              </a:rPr>
              <a:t>w</a:t>
            </a:r>
            <a:r>
              <a:rPr lang="en-US" sz="2000" baseline="30000"/>
              <a:t>n-1</a:t>
            </a:r>
            <a:endParaRPr lang="en-US" sz="2000"/>
          </a:p>
          <a:p>
            <a:pPr marL="914400" lvl="1" indent="-457200"/>
            <a:r>
              <a:rPr lang="en-US" sz="1800"/>
              <a:t>Proof: </a:t>
            </a:r>
            <a:r>
              <a:rPr lang="en-US" sz="1800">
                <a:latin typeface="Symbol" charset="0"/>
              </a:rPr>
              <a:t>ww</a:t>
            </a:r>
            <a:r>
              <a:rPr lang="en-US" sz="1800" baseline="30000"/>
              <a:t>n-1</a:t>
            </a:r>
            <a:r>
              <a:rPr lang="en-US" sz="1800"/>
              <a:t>=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n</a:t>
            </a:r>
            <a:r>
              <a:rPr lang="en-US" sz="1800"/>
              <a:t>=1</a:t>
            </a:r>
          </a:p>
          <a:p>
            <a:pPr marL="533400" indent="-533400"/>
            <a:r>
              <a:rPr lang="en-US" sz="2000" b="1"/>
              <a:t>Cancellation Property:</a:t>
            </a:r>
            <a:r>
              <a:rPr lang="en-US" sz="2000"/>
              <a:t> For non-zero -n&lt;k&lt;n,</a:t>
            </a:r>
          </a:p>
          <a:p>
            <a:pPr marL="914400" lvl="1" indent="-457200"/>
            <a:r>
              <a:rPr lang="en-US" sz="1800"/>
              <a:t>Proof:</a:t>
            </a:r>
          </a:p>
          <a:p>
            <a:pPr marL="914400" lvl="1" indent="-457200"/>
            <a:endParaRPr lang="en-US" sz="1800"/>
          </a:p>
          <a:p>
            <a:pPr marL="533400" indent="-533400">
              <a:buFont typeface="Wingdings" charset="0"/>
              <a:buNone/>
            </a:pPr>
            <a:endParaRPr lang="en-US" sz="2000" b="1"/>
          </a:p>
          <a:p>
            <a:pPr marL="533400" indent="-533400"/>
            <a:r>
              <a:rPr lang="en-US" sz="2000" b="1"/>
              <a:t>Reduction Property: </a:t>
            </a:r>
            <a:r>
              <a:rPr lang="en-US" sz="2000"/>
              <a:t>If w is a primitve (2n)-th root of unity, then </a:t>
            </a:r>
            <a:r>
              <a:rPr lang="en-US" sz="2000">
                <a:latin typeface="Symbol" charset="0"/>
              </a:rPr>
              <a:t>w</a:t>
            </a:r>
            <a:r>
              <a:rPr lang="en-US" sz="2000" baseline="30000"/>
              <a:t>2</a:t>
            </a:r>
            <a:r>
              <a:rPr lang="en-US" sz="2000"/>
              <a:t> is a primitive n-th root of unity.</a:t>
            </a:r>
          </a:p>
          <a:p>
            <a:pPr marL="914400" lvl="1" indent="-457200"/>
            <a:r>
              <a:rPr lang="en-US" sz="1800"/>
              <a:t>Proof: If 1,</a:t>
            </a:r>
            <a:r>
              <a:rPr lang="en-US" sz="1800">
                <a:latin typeface="Symbol" charset="0"/>
              </a:rPr>
              <a:t>w</a:t>
            </a:r>
            <a:r>
              <a:rPr lang="en-US" sz="1800"/>
              <a:t>,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2</a:t>
            </a:r>
            <a:r>
              <a:rPr lang="en-US" sz="1800"/>
              <a:t>,…,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2n-1</a:t>
            </a:r>
            <a:r>
              <a:rPr lang="en-US" sz="1800"/>
              <a:t> are all distinct, so are 1,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2</a:t>
            </a:r>
            <a:r>
              <a:rPr lang="en-US" sz="1800"/>
              <a:t>,(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2</a:t>
            </a:r>
            <a:r>
              <a:rPr lang="en-US" sz="1800"/>
              <a:t>)</a:t>
            </a:r>
            <a:r>
              <a:rPr lang="en-US" sz="1800" baseline="30000"/>
              <a:t>2</a:t>
            </a:r>
            <a:r>
              <a:rPr lang="en-US" sz="1800"/>
              <a:t>,…,(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2</a:t>
            </a:r>
            <a:r>
              <a:rPr lang="en-US" sz="1800"/>
              <a:t>)</a:t>
            </a:r>
            <a:r>
              <a:rPr lang="en-US" sz="1800" baseline="30000"/>
              <a:t>n-1</a:t>
            </a:r>
          </a:p>
          <a:p>
            <a:pPr marL="914400" lvl="1" indent="-457200">
              <a:buFont typeface="Wingdings" charset="0"/>
              <a:buNone/>
            </a:pPr>
            <a:endParaRPr lang="en-US" sz="1800"/>
          </a:p>
          <a:p>
            <a:pPr marL="533400" indent="-533400"/>
            <a:r>
              <a:rPr lang="en-US" sz="2000" b="1"/>
              <a:t>Reflective Property: </a:t>
            </a:r>
            <a:r>
              <a:rPr lang="en-US" sz="2000"/>
              <a:t>If n is even, then </a:t>
            </a:r>
            <a:r>
              <a:rPr lang="en-US" sz="2000">
                <a:latin typeface="Symbol" charset="0"/>
              </a:rPr>
              <a:t>w</a:t>
            </a:r>
            <a:r>
              <a:rPr lang="en-US" sz="2000" baseline="30000"/>
              <a:t>n/2 </a:t>
            </a:r>
            <a:r>
              <a:rPr lang="en-US" sz="2000"/>
              <a:t>= -1.</a:t>
            </a:r>
          </a:p>
          <a:p>
            <a:pPr marL="914400" lvl="1" indent="-457200"/>
            <a:r>
              <a:rPr lang="en-US" sz="1800"/>
              <a:t>Proof: By the cancellation property, for k=n/2:</a:t>
            </a:r>
          </a:p>
          <a:p>
            <a:pPr marL="914400" lvl="1" indent="-457200"/>
            <a:endParaRPr lang="en-US" sz="1800"/>
          </a:p>
          <a:p>
            <a:pPr marL="914400" lvl="1" indent="-457200"/>
            <a:endParaRPr lang="en-US" sz="1800"/>
          </a:p>
          <a:p>
            <a:pPr marL="914400" lvl="1" indent="-457200"/>
            <a:r>
              <a:rPr lang="en-US" sz="1800"/>
              <a:t>Corollary: 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k+n/2</a:t>
            </a:r>
            <a:r>
              <a:rPr lang="en-US" sz="1800"/>
              <a:t>= -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k</a:t>
            </a:r>
            <a:r>
              <a:rPr lang="en-US" sz="1800"/>
              <a:t>.</a:t>
            </a:r>
          </a:p>
        </p:txBody>
      </p:sp>
      <p:graphicFrame>
        <p:nvGraphicFramePr>
          <p:cNvPr id="231430" name="Object 6"/>
          <p:cNvGraphicFramePr>
            <a:graphicFrameLocks noChangeAspect="1"/>
          </p:cNvGraphicFramePr>
          <p:nvPr/>
        </p:nvGraphicFramePr>
        <p:xfrm>
          <a:off x="6705600" y="1981200"/>
          <a:ext cx="10096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34" name="Equation" r:id="rId3" imgW="647640" imgH="444240" progId="Equation.3">
                  <p:embed/>
                </p:oleObj>
              </mc:Choice>
              <mc:Fallback>
                <p:oleObj name="Equation" r:id="rId3" imgW="64764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981200"/>
                        <a:ext cx="10096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1" name="Object 7"/>
          <p:cNvGraphicFramePr>
            <a:graphicFrameLocks noChangeAspect="1"/>
          </p:cNvGraphicFramePr>
          <p:nvPr/>
        </p:nvGraphicFramePr>
        <p:xfrm>
          <a:off x="2514600" y="2667000"/>
          <a:ext cx="59658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35" name="Equation" r:id="rId5" imgW="3225600" imgH="457200" progId="Equation.3">
                  <p:embed/>
                </p:oleObj>
              </mc:Choice>
              <mc:Fallback>
                <p:oleObj name="Equation" r:id="rId5" imgW="3225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667000"/>
                        <a:ext cx="59658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2" name="Object 8"/>
          <p:cNvGraphicFramePr>
            <a:graphicFrameLocks noChangeAspect="1"/>
          </p:cNvGraphicFramePr>
          <p:nvPr/>
        </p:nvGraphicFramePr>
        <p:xfrm>
          <a:off x="1371600" y="5486400"/>
          <a:ext cx="74342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436" name="Equation" r:id="rId7" imgW="4368600" imgH="444240" progId="Equation.3">
                  <p:embed/>
                </p:oleObj>
              </mc:Choice>
              <mc:Fallback>
                <p:oleObj name="Equation" r:id="rId7" imgW="436860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86400"/>
                        <a:ext cx="743426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1433" name="Picture 9" descr="C:\Documents and Settings\Administrator\Application Data\Microsoft\Media Catalog\Downloaded Clips\cl5a\j0225388.wmf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228600"/>
            <a:ext cx="9429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62909-CCD0-A349-8BFB-BA9B9902D230}" type="slidenum">
              <a:rPr lang="en-US"/>
              <a:pPr/>
              <a:t>8</a:t>
            </a:fld>
            <a:endParaRPr lang="en-US"/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The Discrete Fourier Transform</a:t>
            </a:r>
          </a:p>
        </p:txBody>
      </p:sp>
      <p:sp>
        <p:nvSpPr>
          <p:cNvPr id="2324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5029200"/>
          </a:xfrm>
        </p:spPr>
        <p:txBody>
          <a:bodyPr/>
          <a:lstStyle/>
          <a:p>
            <a:pPr marL="533400" indent="-533400"/>
            <a:r>
              <a:rPr lang="en-US" sz="2000"/>
              <a:t>Given coefficients (a</a:t>
            </a:r>
            <a:r>
              <a:rPr lang="en-US" sz="2000" baseline="-25000"/>
              <a:t>0</a:t>
            </a:r>
            <a:r>
              <a:rPr lang="en-US" sz="2000"/>
              <a:t>,a</a:t>
            </a:r>
            <a:r>
              <a:rPr lang="en-US" sz="2000" baseline="-25000"/>
              <a:t>1</a:t>
            </a:r>
            <a:r>
              <a:rPr lang="en-US" sz="2000"/>
              <a:t>,a</a:t>
            </a:r>
            <a:r>
              <a:rPr lang="en-US" sz="2000" baseline="-25000"/>
              <a:t>2</a:t>
            </a:r>
            <a:r>
              <a:rPr lang="en-US" sz="2000"/>
              <a:t>,…,a</a:t>
            </a:r>
            <a:r>
              <a:rPr lang="en-US" sz="2000" baseline="-25000"/>
              <a:t>n-1</a:t>
            </a:r>
            <a:r>
              <a:rPr lang="en-US" sz="2000"/>
              <a:t>) for an (n-1)-degree polynomial p(x)</a:t>
            </a:r>
          </a:p>
          <a:p>
            <a:pPr marL="533400" indent="-533400"/>
            <a:r>
              <a:rPr lang="en-US" sz="2000"/>
              <a:t>The </a:t>
            </a:r>
            <a:r>
              <a:rPr lang="en-US" sz="2000" b="1"/>
              <a:t>Discrete Fourier Transform</a:t>
            </a:r>
            <a:r>
              <a:rPr lang="en-US" sz="2000"/>
              <a:t> is to evaluate p at the values</a:t>
            </a:r>
          </a:p>
          <a:p>
            <a:pPr marL="914400" lvl="1" indent="-457200"/>
            <a:r>
              <a:rPr lang="en-US" sz="1800"/>
              <a:t>1,</a:t>
            </a:r>
            <a:r>
              <a:rPr lang="en-US" sz="1800">
                <a:latin typeface="Symbol" charset="0"/>
              </a:rPr>
              <a:t>w</a:t>
            </a:r>
            <a:r>
              <a:rPr lang="en-US" sz="1800"/>
              <a:t>,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2</a:t>
            </a:r>
            <a:r>
              <a:rPr lang="en-US" sz="1800"/>
              <a:t>,…,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n-1</a:t>
            </a:r>
          </a:p>
          <a:p>
            <a:pPr marL="914400" lvl="1" indent="-457200"/>
            <a:r>
              <a:rPr lang="en-US" sz="1800"/>
              <a:t>We produce (y</a:t>
            </a:r>
            <a:r>
              <a:rPr lang="en-US" sz="1800" baseline="-25000"/>
              <a:t>0</a:t>
            </a:r>
            <a:r>
              <a:rPr lang="en-US" sz="1800"/>
              <a:t>,y</a:t>
            </a:r>
            <a:r>
              <a:rPr lang="en-US" sz="1800" baseline="-25000"/>
              <a:t>1</a:t>
            </a:r>
            <a:r>
              <a:rPr lang="en-US" sz="1800"/>
              <a:t>,y</a:t>
            </a:r>
            <a:r>
              <a:rPr lang="en-US" sz="1800" baseline="-25000"/>
              <a:t>2</a:t>
            </a:r>
            <a:r>
              <a:rPr lang="en-US" sz="1800"/>
              <a:t>,…,y</a:t>
            </a:r>
            <a:r>
              <a:rPr lang="en-US" sz="1800" baseline="-25000"/>
              <a:t>n-1</a:t>
            </a:r>
            <a:r>
              <a:rPr lang="en-US" sz="1800"/>
              <a:t>), where y</a:t>
            </a:r>
            <a:r>
              <a:rPr lang="en-US" sz="1800" baseline="-25000"/>
              <a:t>j</a:t>
            </a:r>
            <a:r>
              <a:rPr lang="en-US" sz="1800"/>
              <a:t>=p(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j</a:t>
            </a:r>
            <a:r>
              <a:rPr lang="en-US" sz="1800"/>
              <a:t>)</a:t>
            </a:r>
          </a:p>
          <a:p>
            <a:pPr marL="914400" lvl="1" indent="-457200"/>
            <a:r>
              <a:rPr lang="en-US" sz="1800"/>
              <a:t>That is, </a:t>
            </a:r>
          </a:p>
          <a:p>
            <a:pPr marL="914400" lvl="1" indent="-457200">
              <a:buFont typeface="Wingdings" charset="0"/>
              <a:buNone/>
            </a:pPr>
            <a:endParaRPr lang="en-US" sz="1800"/>
          </a:p>
          <a:p>
            <a:pPr marL="914400" lvl="1" indent="-457200"/>
            <a:r>
              <a:rPr lang="en-US" sz="1800"/>
              <a:t>Matrix form: </a:t>
            </a:r>
            <a:r>
              <a:rPr lang="en-US" sz="1800" b="1"/>
              <a:t>y=Fa, </a:t>
            </a:r>
            <a:r>
              <a:rPr lang="en-US" sz="1800"/>
              <a:t>where </a:t>
            </a:r>
            <a:r>
              <a:rPr lang="en-US" sz="1800" b="1"/>
              <a:t>F</a:t>
            </a:r>
            <a:r>
              <a:rPr lang="en-US" sz="1800"/>
              <a:t>[i,j]=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ij</a:t>
            </a:r>
            <a:r>
              <a:rPr lang="en-US" sz="1800"/>
              <a:t>.</a:t>
            </a:r>
          </a:p>
          <a:p>
            <a:pPr marL="533400" indent="-533400"/>
            <a:endParaRPr lang="en-US" sz="2000"/>
          </a:p>
          <a:p>
            <a:pPr marL="533400" indent="-533400"/>
            <a:r>
              <a:rPr lang="en-US" sz="2000"/>
              <a:t>The </a:t>
            </a:r>
            <a:r>
              <a:rPr lang="en-US" sz="2000" b="1"/>
              <a:t>Inverse Discrete Fourier Transform</a:t>
            </a:r>
            <a:r>
              <a:rPr lang="en-US" sz="2000"/>
              <a:t> recovers the coefficients of an (n-1)-degree polynomial given its values at 1,</a:t>
            </a:r>
            <a:r>
              <a:rPr lang="en-US" sz="2000">
                <a:latin typeface="Symbol" charset="0"/>
              </a:rPr>
              <a:t>w</a:t>
            </a:r>
            <a:r>
              <a:rPr lang="en-US" sz="2000"/>
              <a:t>,</a:t>
            </a:r>
            <a:r>
              <a:rPr lang="en-US" sz="2000">
                <a:latin typeface="Symbol" charset="0"/>
              </a:rPr>
              <a:t>w</a:t>
            </a:r>
            <a:r>
              <a:rPr lang="en-US" sz="2000" baseline="30000"/>
              <a:t>2</a:t>
            </a:r>
            <a:r>
              <a:rPr lang="en-US" sz="2000"/>
              <a:t>,…,</a:t>
            </a:r>
            <a:r>
              <a:rPr lang="en-US" sz="2000">
                <a:latin typeface="Symbol" charset="0"/>
              </a:rPr>
              <a:t>w</a:t>
            </a:r>
            <a:r>
              <a:rPr lang="en-US" sz="2000" baseline="30000"/>
              <a:t>n-1</a:t>
            </a:r>
          </a:p>
          <a:p>
            <a:pPr marL="914400" lvl="1" indent="-457200"/>
            <a:r>
              <a:rPr lang="en-US" sz="1800"/>
              <a:t>Matrix form: </a:t>
            </a:r>
            <a:r>
              <a:rPr lang="en-US" sz="1800" b="1"/>
              <a:t>a=F</a:t>
            </a:r>
            <a:r>
              <a:rPr lang="en-US" sz="1800" b="1" baseline="30000"/>
              <a:t> -1</a:t>
            </a:r>
            <a:r>
              <a:rPr lang="en-US" sz="1800" b="1"/>
              <a:t>y</a:t>
            </a:r>
            <a:r>
              <a:rPr lang="en-US" sz="1800"/>
              <a:t>, where </a:t>
            </a:r>
            <a:r>
              <a:rPr lang="en-US" sz="1800" b="1"/>
              <a:t>F</a:t>
            </a:r>
            <a:r>
              <a:rPr lang="en-US" sz="1800" b="1" baseline="30000"/>
              <a:t> -1</a:t>
            </a:r>
            <a:r>
              <a:rPr lang="en-US" sz="1800"/>
              <a:t>[i,j]=</a:t>
            </a:r>
            <a:r>
              <a:rPr lang="en-US" sz="1800">
                <a:latin typeface="Symbol" charset="0"/>
              </a:rPr>
              <a:t>w</a:t>
            </a:r>
            <a:r>
              <a:rPr lang="en-US" sz="1800" baseline="30000"/>
              <a:t>-ij</a:t>
            </a:r>
            <a:r>
              <a:rPr lang="en-US" sz="1800"/>
              <a:t>/n.</a:t>
            </a:r>
          </a:p>
        </p:txBody>
      </p:sp>
      <p:graphicFrame>
        <p:nvGraphicFramePr>
          <p:cNvPr id="232452" name="Object 4"/>
          <p:cNvGraphicFramePr>
            <a:graphicFrameLocks noChangeAspect="1"/>
          </p:cNvGraphicFramePr>
          <p:nvPr/>
        </p:nvGraphicFramePr>
        <p:xfrm>
          <a:off x="2590800" y="3200400"/>
          <a:ext cx="14478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56" name="Equation" r:id="rId3" imgW="812520" imgH="431640" progId="Equation.3">
                  <p:embed/>
                </p:oleObj>
              </mc:Choice>
              <mc:Fallback>
                <p:oleObj name="Equation" r:id="rId3" imgW="8125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00400"/>
                        <a:ext cx="14478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2455" name="Picture 7" descr="C:\Documents and Settings\Administrator\Application Data\Microsoft\Media Catalog\Downloaded Clips\cl4e\j0197485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52400"/>
            <a:ext cx="1144588" cy="78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79BC-BAAB-8A4C-9BB9-C56896EFC7B9}" type="slidenum">
              <a:rPr lang="en-US"/>
              <a:pPr/>
              <a:t>9</a:t>
            </a:fld>
            <a:endParaRPr lang="en-US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6400800" cy="1143000"/>
          </a:xfrm>
        </p:spPr>
        <p:txBody>
          <a:bodyPr/>
          <a:lstStyle/>
          <a:p>
            <a:r>
              <a:rPr lang="en-US"/>
              <a:t>Correctness of the inverse DFT</a:t>
            </a:r>
          </a:p>
        </p:txBody>
      </p:sp>
      <p:sp>
        <p:nvSpPr>
          <p:cNvPr id="2334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077200" cy="5029200"/>
          </a:xfrm>
        </p:spPr>
        <p:txBody>
          <a:bodyPr/>
          <a:lstStyle/>
          <a:p>
            <a:pPr marL="533400" indent="-533400"/>
            <a:r>
              <a:rPr lang="en-US" sz="2000"/>
              <a:t>The DFT and inverse DFT really are inverse operations</a:t>
            </a:r>
          </a:p>
          <a:p>
            <a:pPr marL="533400" indent="-533400"/>
            <a:r>
              <a:rPr lang="en-US" sz="2000"/>
              <a:t>Proof: Let </a:t>
            </a:r>
            <a:r>
              <a:rPr lang="en-US" sz="2000" b="1"/>
              <a:t>A=F</a:t>
            </a:r>
            <a:r>
              <a:rPr lang="en-US" sz="2000" b="1" baseline="30000"/>
              <a:t> -1</a:t>
            </a:r>
            <a:r>
              <a:rPr lang="en-US" sz="2000" b="1"/>
              <a:t>F</a:t>
            </a:r>
            <a:r>
              <a:rPr lang="en-US" sz="2000"/>
              <a:t>.  We want to show that </a:t>
            </a:r>
            <a:r>
              <a:rPr lang="en-US" sz="2000" b="1"/>
              <a:t>A=I</a:t>
            </a:r>
            <a:r>
              <a:rPr lang="en-US" sz="2000"/>
              <a:t>, where</a:t>
            </a:r>
          </a:p>
          <a:p>
            <a:pPr marL="533400" indent="-533400"/>
            <a:endParaRPr lang="en-US" sz="2000"/>
          </a:p>
          <a:p>
            <a:pPr marL="533400" indent="-533400"/>
            <a:endParaRPr lang="en-US" sz="2000"/>
          </a:p>
          <a:p>
            <a:pPr marL="533400" indent="-533400"/>
            <a:r>
              <a:rPr lang="en-US" sz="2000"/>
              <a:t>If i=j, then</a:t>
            </a:r>
          </a:p>
          <a:p>
            <a:pPr marL="533400" indent="-533400"/>
            <a:endParaRPr lang="en-US" sz="2000"/>
          </a:p>
          <a:p>
            <a:pPr marL="533400" indent="-533400"/>
            <a:endParaRPr lang="en-US" sz="2000"/>
          </a:p>
          <a:p>
            <a:pPr marL="533400" indent="-533400"/>
            <a:endParaRPr lang="en-US" sz="2000"/>
          </a:p>
          <a:p>
            <a:pPr marL="533400" indent="-533400"/>
            <a:r>
              <a:rPr lang="en-US" sz="2000"/>
              <a:t>If i and j are different, then</a:t>
            </a:r>
          </a:p>
          <a:p>
            <a:pPr marL="533400" indent="-533400">
              <a:buFont typeface="Wingdings" charset="0"/>
              <a:buNone/>
            </a:pPr>
            <a:endParaRPr lang="en-US" sz="2000"/>
          </a:p>
        </p:txBody>
      </p:sp>
      <p:graphicFrame>
        <p:nvGraphicFramePr>
          <p:cNvPr id="233476" name="Object 4"/>
          <p:cNvGraphicFramePr>
            <a:graphicFrameLocks noChangeAspect="1"/>
          </p:cNvGraphicFramePr>
          <p:nvPr/>
        </p:nvGraphicFramePr>
        <p:xfrm>
          <a:off x="2895600" y="2286000"/>
          <a:ext cx="2328863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80" name="Equation" r:id="rId3" imgW="1307880" imgH="431640" progId="Equation.3">
                  <p:embed/>
                </p:oleObj>
              </mc:Choice>
              <mc:Fallback>
                <p:oleObj name="Equation" r:id="rId3" imgW="13078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286000"/>
                        <a:ext cx="2328863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7" name="Object 5"/>
          <p:cNvGraphicFramePr>
            <a:graphicFrameLocks noChangeAspect="1"/>
          </p:cNvGraphicFramePr>
          <p:nvPr/>
        </p:nvGraphicFramePr>
        <p:xfrm>
          <a:off x="2249488" y="5029200"/>
          <a:ext cx="5967412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81" name="Equation" r:id="rId5" imgW="3352680" imgH="431640" progId="Equation.3">
                  <p:embed/>
                </p:oleObj>
              </mc:Choice>
              <mc:Fallback>
                <p:oleObj name="Equation" r:id="rId5" imgW="33526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5029200"/>
                        <a:ext cx="5967412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8" name="Object 6"/>
          <p:cNvGraphicFramePr>
            <a:graphicFrameLocks noChangeAspect="1"/>
          </p:cNvGraphicFramePr>
          <p:nvPr/>
        </p:nvGraphicFramePr>
        <p:xfrm>
          <a:off x="2057400" y="3352800"/>
          <a:ext cx="4386263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82" name="Equation" r:id="rId7" imgW="2463480" imgH="431640" progId="Equation.3">
                  <p:embed/>
                </p:oleObj>
              </mc:Choice>
              <mc:Fallback>
                <p:oleObj name="Equation" r:id="rId7" imgW="246348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4386263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79" name="Picture 7" descr="C:\Documents and Settings\Administrator\Application Data\Microsoft\Media Catalog\Downloaded Clips\cl4f\j0199330.wmf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28600"/>
            <a:ext cx="1752600" cy="110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3B3EB-5424-7F4E-A948-14BC155521F7}" type="slidenum">
              <a:rPr lang="en-US"/>
              <a:pPr/>
              <a:t>10</a:t>
            </a:fld>
            <a:endParaRPr lang="en-US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Convolution</a:t>
            </a:r>
          </a:p>
        </p:txBody>
      </p:sp>
      <p:sp>
        <p:nvSpPr>
          <p:cNvPr id="234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3429000" cy="5029200"/>
          </a:xfrm>
        </p:spPr>
        <p:txBody>
          <a:bodyPr/>
          <a:lstStyle/>
          <a:p>
            <a:pPr marL="533400" indent="-533400"/>
            <a:r>
              <a:rPr lang="en-US" sz="2000"/>
              <a:t>The DFT and the inverse DFT can be used to multiply two polynomials</a:t>
            </a:r>
          </a:p>
          <a:p>
            <a:pPr marL="533400" indent="-533400"/>
            <a:endParaRPr lang="en-US" sz="2000"/>
          </a:p>
          <a:p>
            <a:pPr marL="533400" indent="-533400"/>
            <a:endParaRPr lang="en-US" sz="2000"/>
          </a:p>
          <a:p>
            <a:pPr marL="533400" indent="-533400"/>
            <a:r>
              <a:rPr lang="en-US" sz="2000"/>
              <a:t>So we can get the coefficients of the product polynomial quickly if we can compute the DFT (and its inverse) quickly…</a:t>
            </a:r>
          </a:p>
        </p:txBody>
      </p:sp>
      <p:pic>
        <p:nvPicPr>
          <p:cNvPr id="23450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250950"/>
            <a:ext cx="4916488" cy="537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34505" name="Picture 9" descr="C:\Program Files\Common Files\Microsoft Shared\Artgalry\Downloaded Clips\ED00027_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14313"/>
            <a:ext cx="1430338" cy="92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0529F-B844-8E4C-8996-C4C79F2B74DA}" type="slidenum">
              <a:rPr lang="en-US"/>
              <a:pPr/>
              <a:t>11</a:t>
            </a:fld>
            <a:endParaRPr lang="en-US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The Fast Fourier Transform</a:t>
            </a:r>
          </a:p>
        </p:txBody>
      </p:sp>
      <p:sp>
        <p:nvSpPr>
          <p:cNvPr id="2355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3657600"/>
          </a:xfrm>
        </p:spPr>
        <p:txBody>
          <a:bodyPr/>
          <a:lstStyle/>
          <a:p>
            <a:pPr marL="533400" indent="-533400"/>
            <a:r>
              <a:rPr lang="en-US" sz="2000"/>
              <a:t>The FFT is an efficient algorithm for computing the DFT</a:t>
            </a:r>
          </a:p>
          <a:p>
            <a:pPr marL="533400" indent="-533400"/>
            <a:r>
              <a:rPr lang="en-US" sz="2000"/>
              <a:t>The FFT is based on the divide-and-conquer paradigm:</a:t>
            </a:r>
          </a:p>
          <a:p>
            <a:pPr marL="914400" lvl="1" indent="-457200"/>
            <a:r>
              <a:rPr lang="en-US" sz="1800"/>
              <a:t>If n is even, we can divide a polynomial</a:t>
            </a:r>
          </a:p>
          <a:p>
            <a:pPr marL="914400" lvl="1" indent="-457200"/>
            <a:endParaRPr lang="en-US" sz="1800"/>
          </a:p>
          <a:p>
            <a:pPr marL="914400" lvl="1" indent="-457200"/>
            <a:endParaRPr lang="en-US" sz="1800"/>
          </a:p>
          <a:p>
            <a:pPr marL="914400" lvl="1" indent="-457200">
              <a:buFont typeface="Wingdings" charset="0"/>
              <a:buNone/>
            </a:pPr>
            <a:r>
              <a:rPr lang="en-US" sz="1800"/>
              <a:t>      into two polynomials</a:t>
            </a:r>
          </a:p>
          <a:p>
            <a:pPr marL="914400" lvl="1" indent="-457200">
              <a:buFont typeface="Wingdings" charset="0"/>
              <a:buNone/>
            </a:pPr>
            <a:endParaRPr lang="en-US" sz="1800"/>
          </a:p>
          <a:p>
            <a:pPr marL="914400" lvl="1" indent="-457200">
              <a:buFont typeface="Wingdings" charset="0"/>
              <a:buNone/>
            </a:pPr>
            <a:endParaRPr lang="en-US" sz="1800"/>
          </a:p>
          <a:p>
            <a:pPr marL="914400" lvl="1" indent="-457200">
              <a:buFont typeface="Wingdings" charset="0"/>
              <a:buNone/>
            </a:pPr>
            <a:r>
              <a:rPr lang="en-US" sz="1800"/>
              <a:t>      </a:t>
            </a:r>
          </a:p>
          <a:p>
            <a:pPr marL="914400" lvl="1" indent="-457200">
              <a:buFont typeface="Wingdings" charset="0"/>
              <a:buNone/>
            </a:pPr>
            <a:endParaRPr lang="en-US" sz="1800"/>
          </a:p>
          <a:p>
            <a:pPr marL="914400" lvl="1" indent="-457200">
              <a:buFont typeface="Wingdings" charset="0"/>
              <a:buNone/>
            </a:pPr>
            <a:r>
              <a:rPr lang="en-US" sz="1800"/>
              <a:t>       and we can write</a:t>
            </a:r>
          </a:p>
        </p:txBody>
      </p:sp>
      <p:pic>
        <p:nvPicPr>
          <p:cNvPr id="2355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90800"/>
            <a:ext cx="583723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355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657600"/>
            <a:ext cx="7102475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3552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3" b="16702"/>
          <a:stretch>
            <a:fillRect/>
          </a:stretch>
        </p:blipFill>
        <p:spPr bwMode="auto">
          <a:xfrm>
            <a:off x="2133600" y="5410200"/>
            <a:ext cx="464026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35528" name="Picture 8" descr="C:\Documents and Settings\Administrator\Application Data\Microsoft\Media Catalog\Downloaded Clips\cl2\BD07494_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8600"/>
            <a:ext cx="998538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9FE25-7A9A-B441-8D8B-EE61E7650B8A}" type="slidenum">
              <a:rPr lang="en-US"/>
              <a:pPr/>
              <a:t>12</a:t>
            </a:fld>
            <a:endParaRPr lang="en-US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The FFT Algorithm</a:t>
            </a:r>
          </a:p>
        </p:txBody>
      </p:sp>
      <p:pic>
        <p:nvPicPr>
          <p:cNvPr id="23655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6781800" cy="462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365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90800" y="5867400"/>
            <a:ext cx="6400800" cy="533400"/>
          </a:xfrm>
          <a:solidFill>
            <a:srgbClr val="EAEAEA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buFont typeface="Wingdings" charset="0"/>
              <a:buNone/>
            </a:pPr>
            <a:r>
              <a:rPr lang="en-US" sz="2000"/>
              <a:t>The running time is O(n log n). [inverse FFT is similar]</a:t>
            </a:r>
          </a:p>
        </p:txBody>
      </p:sp>
      <p:pic>
        <p:nvPicPr>
          <p:cNvPr id="236553" name="Picture 9" descr="C:\Documents and Settings\Administrator\Application Data\Microsoft\Media Catalog\Downloaded Clips\cl23\j0088738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038" y="152400"/>
            <a:ext cx="1331912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ED962-F36D-3B4B-BFCE-692EB2A967CC}" type="slidenum">
              <a:rPr lang="en-US"/>
              <a:pPr/>
              <a:t>13</a:t>
            </a:fld>
            <a:endParaRPr lang="en-US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77200" cy="1143000"/>
          </a:xfrm>
        </p:spPr>
        <p:txBody>
          <a:bodyPr/>
          <a:lstStyle/>
          <a:p>
            <a:r>
              <a:rPr lang="en-US"/>
              <a:t>Multiplying Big Integers</a:t>
            </a:r>
          </a:p>
        </p:txBody>
      </p:sp>
      <p:sp>
        <p:nvSpPr>
          <p:cNvPr id="2375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82000" cy="5181600"/>
          </a:xfrm>
        </p:spPr>
        <p:txBody>
          <a:bodyPr/>
          <a:lstStyle/>
          <a:p>
            <a:pPr marL="533400" indent="-533400"/>
            <a:r>
              <a:rPr lang="en-US" sz="2000"/>
              <a:t>Given N-bit integers I and J, compute IJ.</a:t>
            </a:r>
          </a:p>
          <a:p>
            <a:pPr marL="533400" indent="-533400"/>
            <a:r>
              <a:rPr lang="en-US" sz="2000"/>
              <a:t>Assume: we can multiply words of O(log N) bits in constant time.</a:t>
            </a:r>
          </a:p>
          <a:p>
            <a:pPr marL="533400" indent="-533400"/>
            <a:r>
              <a:rPr lang="en-US" sz="2000"/>
              <a:t>Setup: Find a prime p=cn+1 that can be represented in one word, and set m=(log p)/3, so that we can view I and J as n-length vectors of m-bit words.</a:t>
            </a:r>
          </a:p>
          <a:p>
            <a:pPr marL="533400" indent="-533400"/>
            <a:r>
              <a:rPr lang="en-US" sz="2000"/>
              <a:t>Finding a primitive root of unity.</a:t>
            </a:r>
          </a:p>
          <a:p>
            <a:pPr marL="914400" lvl="1" indent="-457200"/>
            <a:r>
              <a:rPr lang="en-US" sz="1800"/>
              <a:t>Find a generator x of Z</a:t>
            </a:r>
            <a:r>
              <a:rPr lang="en-US" sz="1800" baseline="30000"/>
              <a:t>*</a:t>
            </a:r>
            <a:r>
              <a:rPr lang="en-US" sz="1800" baseline="-25000"/>
              <a:t>p</a:t>
            </a:r>
            <a:r>
              <a:rPr lang="en-US" sz="1800"/>
              <a:t>.</a:t>
            </a:r>
          </a:p>
          <a:p>
            <a:pPr marL="914400" lvl="1" indent="-457200"/>
            <a:r>
              <a:rPr lang="en-US" sz="1800"/>
              <a:t>Then </a:t>
            </a:r>
            <a:r>
              <a:rPr lang="en-US" sz="1800">
                <a:latin typeface="Symbol" charset="0"/>
              </a:rPr>
              <a:t>w</a:t>
            </a:r>
            <a:r>
              <a:rPr lang="en-US" sz="1800"/>
              <a:t>=x</a:t>
            </a:r>
            <a:r>
              <a:rPr lang="en-US" sz="1800" baseline="30000"/>
              <a:t>c</a:t>
            </a:r>
            <a:r>
              <a:rPr lang="en-US" sz="1800"/>
              <a:t> is a primitive n-th root of unity in Z</a:t>
            </a:r>
            <a:r>
              <a:rPr lang="en-US" sz="1800" baseline="30000"/>
              <a:t>*</a:t>
            </a:r>
            <a:r>
              <a:rPr lang="en-US" sz="1800" baseline="-25000"/>
              <a:t>p</a:t>
            </a:r>
            <a:r>
              <a:rPr lang="en-US" sz="1800"/>
              <a:t> (arithmetic is mod p)</a:t>
            </a:r>
          </a:p>
          <a:p>
            <a:pPr marL="533400" indent="-533400"/>
            <a:r>
              <a:rPr lang="en-US" sz="2000"/>
              <a:t>Apply convolution and FFT algorithm to compute the convolution C of the vector representations of I and J.</a:t>
            </a:r>
          </a:p>
          <a:p>
            <a:pPr marL="533400" indent="-533400"/>
            <a:r>
              <a:rPr lang="en-US" sz="2000"/>
              <a:t>Then compute</a:t>
            </a:r>
          </a:p>
          <a:p>
            <a:pPr marL="533400" indent="-533400">
              <a:buFont typeface="Wingdings" charset="0"/>
              <a:buNone/>
            </a:pPr>
            <a:endParaRPr lang="en-US" sz="2000"/>
          </a:p>
          <a:p>
            <a:pPr marL="533400" indent="-533400"/>
            <a:r>
              <a:rPr lang="en-US" sz="2000"/>
              <a:t>K is a vector representing IJ, and takes O(n log n) time to compute.</a:t>
            </a:r>
          </a:p>
        </p:txBody>
      </p:sp>
      <p:graphicFrame>
        <p:nvGraphicFramePr>
          <p:cNvPr id="237575" name="Object 7"/>
          <p:cNvGraphicFramePr>
            <a:graphicFrameLocks noChangeAspect="1"/>
          </p:cNvGraphicFramePr>
          <p:nvPr/>
        </p:nvGraphicFramePr>
        <p:xfrm>
          <a:off x="2971800" y="4953000"/>
          <a:ext cx="131445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77" name="Equation" r:id="rId3" imgW="799920" imgH="431640" progId="Equation.3">
                  <p:embed/>
                </p:oleObj>
              </mc:Choice>
              <mc:Fallback>
                <p:oleObj name="Equation" r:id="rId3" imgW="79992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0"/>
                        <a:ext cx="131445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7576" name="Picture 8" descr="j008886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28600"/>
            <a:ext cx="1589088" cy="109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7DB2-A16B-BA45-8A4D-712F87A9F1E8}" type="slidenum">
              <a:rPr lang="en-US"/>
              <a:pPr/>
              <a:t>14</a:t>
            </a:fld>
            <a:endParaRPr lang="en-US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Non-recursive FFT</a:t>
            </a:r>
          </a:p>
        </p:txBody>
      </p:sp>
      <p:sp>
        <p:nvSpPr>
          <p:cNvPr id="242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sz="2800"/>
              <a:t>There is also a non-recursive version of the FFT</a:t>
            </a:r>
          </a:p>
          <a:p>
            <a:pPr lvl="1"/>
            <a:r>
              <a:rPr lang="en-US" sz="2400"/>
              <a:t>Performs the FFT in place</a:t>
            </a:r>
          </a:p>
          <a:p>
            <a:pPr lvl="1"/>
            <a:r>
              <a:rPr lang="en-US" sz="2400"/>
              <a:t>Precomputes all roots of unity</a:t>
            </a:r>
          </a:p>
          <a:p>
            <a:pPr lvl="1"/>
            <a:r>
              <a:rPr lang="en-US" sz="2400"/>
              <a:t>Performs a cumulative collection of shuffles on A and on B prior to the FFT, which amounts to assigning the value at index i to the index bit-reverse(i).</a:t>
            </a:r>
          </a:p>
          <a:p>
            <a:r>
              <a:rPr lang="en-US" sz="2800"/>
              <a:t>The code is a bit more complex, but the running time is faster by a constant, due to improved overhead</a:t>
            </a:r>
          </a:p>
        </p:txBody>
      </p:sp>
      <p:pic>
        <p:nvPicPr>
          <p:cNvPr id="242693" name="Picture 5" descr="C:\Program Files\Common Files\Microsoft Shared\Clipart\cagcat50\BD05515_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152400"/>
            <a:ext cx="1347787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© 2015 Goodrich and Tamassia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  <a:ea typeface="ＭＳ Ｐゴシック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9124</TotalTime>
  <Words>1415</Words>
  <Application>Microsoft Macintosh PowerPoint</Application>
  <PresentationFormat>On-screen Show (4:3)</PresentationFormat>
  <Paragraphs>175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Times New Roman</vt:lpstr>
      <vt:lpstr>Tahoma</vt:lpstr>
      <vt:lpstr>Wingdings</vt:lpstr>
      <vt:lpstr>Symbol</vt:lpstr>
      <vt:lpstr>Helvetica</vt:lpstr>
      <vt:lpstr>Blueprint</vt:lpstr>
      <vt:lpstr>Visio 2000 Drawing</vt:lpstr>
      <vt:lpstr>Microsoft Equation 3.0</vt:lpstr>
      <vt:lpstr>Microsoft Excel Worksheet</vt:lpstr>
      <vt:lpstr>The Fast Fourier Transform</vt:lpstr>
      <vt:lpstr>Polynomials</vt:lpstr>
      <vt:lpstr>Polynomial Evaluation</vt:lpstr>
      <vt:lpstr>Polynomial Multiplication Problem</vt:lpstr>
      <vt:lpstr>Polynomial Interpolation &amp; Polynomial Multiplication</vt:lpstr>
      <vt:lpstr>Primitive Roots of Unity</vt:lpstr>
      <vt:lpstr>Properties of  Primitive Roots of Unity</vt:lpstr>
      <vt:lpstr>The Discrete Fourier Transform</vt:lpstr>
      <vt:lpstr>Correctness of the inverse DFT</vt:lpstr>
      <vt:lpstr>Convolution</vt:lpstr>
      <vt:lpstr>The Fast Fourier Transform</vt:lpstr>
      <vt:lpstr>The FFT Algorithm</vt:lpstr>
      <vt:lpstr>Multiplying Big Integers</vt:lpstr>
      <vt:lpstr>Non-recursive FFT</vt:lpstr>
    </vt:vector>
  </TitlesOfParts>
  <Company>UC-Irvine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FFT</dc:title>
  <dc:creator>Michael Goodrich</dc:creator>
  <cp:lastModifiedBy>Michael Goodrich</cp:lastModifiedBy>
  <cp:revision>1213</cp:revision>
  <dcterms:created xsi:type="dcterms:W3CDTF">2002-01-21T02:22:10Z</dcterms:created>
  <dcterms:modified xsi:type="dcterms:W3CDTF">2015-10-12T20:57:54Z</dcterms:modified>
</cp:coreProperties>
</file>